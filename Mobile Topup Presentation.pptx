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GMV</c:v>
          </c:tx>
          <c:spPr>
            <a:ln w="38100">
              <a:solidFill>
                <a:srgbClr val="A21C63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A21C63"/>
              </a:solidFill>
            </c:spPr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0.0"M"</c:formatCode>
              <c:ptCount val="12"/>
              <c:pt idx="0">
                <c:v>53.8</c:v>
              </c:pt>
              <c:pt idx="1">
                <c:v>52.7</c:v>
              </c:pt>
              <c:pt idx="2">
                <c:v>58.2</c:v>
              </c:pt>
              <c:pt idx="3">
                <c:v>54.2</c:v>
              </c:pt>
              <c:pt idx="4">
                <c:v>53</c:v>
              </c:pt>
              <c:pt idx="5">
                <c:v>58.3</c:v>
              </c:pt>
              <c:pt idx="6">
                <c:v>58.9</c:v>
              </c:pt>
              <c:pt idx="7">
                <c:v>60</c:v>
              </c:pt>
              <c:pt idx="8">
                <c:v>65.400000000000006</c:v>
              </c:pt>
              <c:pt idx="9">
                <c:v>61.7</c:v>
              </c:pt>
              <c:pt idx="10">
                <c:v>59.3</c:v>
              </c:pt>
              <c:pt idx="11">
                <c:v>61.3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70D-476E-A586-53226FE738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EE3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14C5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8"/>
          <c:min val="48"/>
        </c:scaling>
        <c:delete val="0"/>
        <c:axPos val="l"/>
        <c:majorGridlines>
          <c:spPr>
            <a:ln w="9525">
              <a:solidFill>
                <a:srgbClr val="E6DEE3"/>
              </a:solidFill>
              <a:prstDash val="solid"/>
            </a:ln>
          </c:spPr>
        </c:majorGridlines>
        <c:numFmt formatCode="0.0&quot;M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14C54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Contribution</c:v>
          </c:tx>
          <c:spPr>
            <a:solidFill>
              <a:srgbClr val="A21C6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D232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Vietnamobile</c:v>
              </c:pt>
              <c:pt idx="1">
                <c:v>Viettel</c:v>
              </c:pt>
              <c:pt idx="2">
                <c:v>Vinaphone</c:v>
              </c:pt>
              <c:pt idx="3">
                <c:v>Mobifone</c:v>
              </c:pt>
            </c:strLit>
          </c:cat>
          <c:val>
            <c:numLit>
              <c:formatCode>General</c:formatCode>
              <c:ptCount val="4"/>
              <c:pt idx="0">
                <c:v>0.65</c:v>
              </c:pt>
              <c:pt idx="1">
                <c:v>3.5960000000000001</c:v>
              </c:pt>
              <c:pt idx="2">
                <c:v>3.7</c:v>
              </c:pt>
              <c:pt idx="3">
                <c:v>3.8380000000000001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021-46E9-8213-E2B2452AA7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EE3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14C5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Required GMV Lift</c:v>
          </c:tx>
          <c:spPr>
            <a:solidFill>
              <a:srgbClr val="C1842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2D232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Gmobile</c:v>
              </c:pt>
              <c:pt idx="1">
                <c:v>Vietnamobile</c:v>
              </c:pt>
              <c:pt idx="2">
                <c:v>Vinaphone</c:v>
              </c:pt>
              <c:pt idx="3">
                <c:v>Mobifone</c:v>
              </c:pt>
            </c:strLit>
          </c:cat>
          <c:val>
            <c:numLit>
              <c:formatCode>0"%"</c:formatCode>
              <c:ptCount val="4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300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43-4A76-8566-C3DDB5035B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6DEE3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14C5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&quot;%&quot;" sourceLinked="1"/>
        <c:majorTickMark val="none"/>
        <c:minorTickMark val="none"/>
        <c:tickLblPos val="nextTo"/>
        <c:spPr>
          <a:ln w="9525">
            <a:solidFill>
              <a:srgbClr val="E6DEE3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2D232A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2: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3: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4: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5: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6: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User-authored </a:t>
            </a:r>
            <a:r>
              <a:rPr dirty="0" err="1"/>
              <a:t>MoMo</a:t>
            </a:r>
            <a:r>
              <a:rPr dirty="0"/>
              <a:t> Mobile </a:t>
            </a:r>
            <a:r>
              <a:rPr dirty="0" err="1"/>
              <a:t>Topup</a:t>
            </a:r>
            <a:r>
              <a:rPr dirty="0"/>
              <a:t> analytics project, January–December 2020.</a:t>
            </a:r>
          </a:p>
          <a:p>
            <a:r>
              <a:rPr dirty="0"/>
              <a:t>- Project SQL Server analysis and Power BI dashboard screenshots embedded in this deck.</a:t>
            </a:r>
          </a:p>
          <a:p>
            <a:r>
              <a:rPr dirty="0"/>
              <a:t>- Confirmed project metrics and diagnostic calculations documented in the project README.</a:t>
            </a:r>
          </a:p>
          <a:p>
            <a:r>
              <a:rPr dirty="0"/>
              <a:t>- Slide 7: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8: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9: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10: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11: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12: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13: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14: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User-authored MoMo Mobile Topup analytics project, January–December 2020.</a:t>
            </a:r>
          </a:p>
          <a:p>
            <a:r>
              <a:t>- Project SQL Server analysis and Power BI dashboard screenshots embedded in this deck.</a:t>
            </a:r>
          </a:p>
          <a:p>
            <a:r>
              <a:t>- Confirmed project metrics and diagnostic calculations documented in the project README.</a:t>
            </a:r>
          </a:p>
          <a:p>
            <a:r>
              <a:t>- Slide 15: all claims and visuals are derived from the same user-authored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14ED762-C385-4CB9-BD4A-2D075369D5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D1A3DC-A53B-48F5-AD54-B5F293BCAF6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A21C63"/>
                </a:solidFill>
              </a:defRPr>
            </a:pPr>
            <a:r>
              <a:rPr sz="1125" b="1" i="0">
                <a:solidFill>
                  <a:srgbClr val="A21C63"/>
                </a:solidFill>
              </a:rPr>
              <a:t>MOMO MOBILE TOPUP CASE STUDY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08BD5-AB74-4857-8CF2-22E6E583ADB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4953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200" b="1" i="0">
                <a:solidFill>
                  <a:srgbClr val="2D232A"/>
                </a:solidFill>
              </a:defRPr>
            </a:pPr>
            <a:r>
              <a:rPr sz="4200" b="1" i="0">
                <a:solidFill>
                  <a:srgbClr val="2D232A"/>
                </a:solidFill>
              </a:rPr>
              <a:t>Cashback: Growth</a:t>
            </a:r>
          </a:p>
          <a:p>
            <a:pPr algn="l">
              <a:buNone/>
              <a:defRPr sz="4200" b="1" i="0">
                <a:solidFill>
                  <a:srgbClr val="2D232A"/>
                </a:solidFill>
              </a:defRPr>
            </a:pPr>
            <a:r>
              <a:rPr sz="4200" b="1" i="0">
                <a:solidFill>
                  <a:srgbClr val="2D232A"/>
                </a:solidFill>
              </a:rPr>
              <a:t>or Margin Erosion?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E59C9-254A-40C0-B8A9-AED665D7C4E5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 i="0">
                <a:solidFill>
                  <a:srgbClr val="514C54"/>
                </a:solidFill>
              </a:defRPr>
            </a:pPr>
            <a:r>
              <a:rPr sz="1725" b="0" i="0">
                <a:solidFill>
                  <a:srgbClr val="514C54"/>
                </a:solidFill>
              </a:rPr>
              <a:t>Performance analysis and a financially sustainable cashback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48E43-1CAF-4497-888F-AE066A05AA4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466850" cy="47625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AEAB1-DCDB-4C02-9A1A-C53AD712391F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746E76"/>
                </a:solidFill>
              </a:defRPr>
            </a:pPr>
            <a:r>
              <a:rPr sz="1275" b="1" i="0">
                <a:solidFill>
                  <a:srgbClr val="746E76"/>
                </a:solidFill>
              </a:rPr>
              <a:t>SQL Server  •  Power BI  •  Jan–Dec 2020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721B8-81AB-4CB3-B88B-E72C047EAAF2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8E174F"/>
          </a:solidFill>
          <a:ln w="0">
            <a:solidFill>
              <a:srgbClr val="8E1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96AB0D-F085-450D-85CA-7B4DCBB4A54F}"/>
              </a:ext>
            </a:extLst>
          </p:cNvPr>
          <p:cNvSpPr>
            <a:spLocks noGrp="1"/>
          </p:cNvSpPr>
          <p:nvPr/>
        </p:nvSpPr>
        <p:spPr>
          <a:xfrm>
            <a:off x="6477000" y="895350"/>
            <a:ext cx="5317088" cy="3110593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11552F-1075-461C-8608-0990E6FEF1AB}"/>
              </a:ext>
            </a:extLst>
          </p:cNvPr>
          <p:cNvSpPr>
            <a:spLocks noGrp="1"/>
          </p:cNvSpPr>
          <p:nvPr/>
        </p:nvSpPr>
        <p:spPr>
          <a:xfrm>
            <a:off x="6451534" y="4195762"/>
            <a:ext cx="5204927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 dirty="0">
                <a:solidFill>
                  <a:srgbClr val="FFFFFF"/>
                </a:solidFill>
              </a:rPr>
              <a:t>The decision is not whether cashback can grow GMV.</a:t>
            </a:r>
          </a:p>
          <a:p>
            <a:pPr algn="l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 dirty="0">
                <a:solidFill>
                  <a:srgbClr val="FFFFFF"/>
                </a:solidFill>
              </a:rPr>
              <a:t>It is whether that growth can recover contribution.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2A8478-67E2-4D55-85B7-91928C4D3FEC}"/>
              </a:ext>
            </a:extLst>
          </p:cNvPr>
          <p:cNvSpPr>
            <a:spLocks noGrp="1"/>
          </p:cNvSpPr>
          <p:nvPr/>
        </p:nvSpPr>
        <p:spPr>
          <a:xfrm>
            <a:off x="228600" y="656914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E887B6"/>
                </a:solidFill>
              </a:defRPr>
            </a:pPr>
            <a:r>
              <a:rPr sz="1050" b="1" i="0" dirty="0">
                <a:solidFill>
                  <a:srgbClr val="E887B6"/>
                </a:solidFill>
              </a:rPr>
              <a:t>Portfolio Project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184676-63A6-2AF6-739D-9B6DD04B3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1" y="1022868"/>
            <a:ext cx="5067300" cy="28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45662FD-9D6F-437E-A3F5-EDD1687637B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EXECUTIVE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4B62B-354A-445F-B6FC-07D4FBDB759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Growth is fragile—and blanket cashback destroys margin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C7A75-364C-4C86-A589-85203D980C3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4EDB8-AEC1-4E8D-8329-626E6F1CC696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E76DB2-B786-4002-9106-1778B16B5D04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 i="0">
                <a:solidFill>
                  <a:srgbClr val="A21C63"/>
                </a:solidFill>
              </a:defRPr>
            </a:pPr>
            <a:r>
              <a:rPr sz="3450" b="1" i="0">
                <a:solidFill>
                  <a:srgbClr val="A21C63"/>
                </a:solidFill>
              </a:rPr>
              <a:t>696.60M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21A34-06E5-4ECC-9FE6-C15E9E9C5145}"/>
              </a:ext>
            </a:extLst>
          </p:cNvPr>
          <p:cNvSpPr>
            <a:spLocks noGrp="1"/>
          </p:cNvSpPr>
          <p:nvPr/>
        </p:nvSpPr>
        <p:spPr>
          <a:xfrm>
            <a:off x="723900" y="22002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Total GMV (VND)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391DF-0B06-4140-AE46-05F0F632312A}"/>
              </a:ext>
            </a:extLst>
          </p:cNvPr>
          <p:cNvSpPr>
            <a:spLocks noGrp="1"/>
          </p:cNvSpPr>
          <p:nvPr/>
        </p:nvSpPr>
        <p:spPr>
          <a:xfrm>
            <a:off x="3581400" y="1657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 i="0">
                <a:solidFill>
                  <a:srgbClr val="A21C63"/>
                </a:solidFill>
              </a:defRPr>
            </a:pPr>
            <a:r>
              <a:rPr sz="3450" b="1" i="0">
                <a:solidFill>
                  <a:srgbClr val="A21C63"/>
                </a:solidFill>
              </a:rPr>
              <a:t>18.75M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84C92-EA42-4696-8CA6-9F74BCD320D4}"/>
              </a:ext>
            </a:extLst>
          </p:cNvPr>
          <p:cNvSpPr>
            <a:spLocks noGrp="1"/>
          </p:cNvSpPr>
          <p:nvPr/>
        </p:nvSpPr>
        <p:spPr>
          <a:xfrm>
            <a:off x="3581400" y="22002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Gross revenue (VND)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DF428-1B63-4FE0-9332-1C37E592364E}"/>
              </a:ext>
            </a:extLst>
          </p:cNvPr>
          <p:cNvSpPr>
            <a:spLocks noGrp="1"/>
          </p:cNvSpPr>
          <p:nvPr/>
        </p:nvSpPr>
        <p:spPr>
          <a:xfrm>
            <a:off x="6438900" y="1657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 i="0">
                <a:solidFill>
                  <a:srgbClr val="A21C63"/>
                </a:solidFill>
              </a:defRPr>
            </a:pPr>
            <a:r>
              <a:rPr sz="3450" b="1" i="0">
                <a:solidFill>
                  <a:srgbClr val="A21C63"/>
                </a:solidFill>
              </a:rPr>
              <a:t>11.79M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244D40-0F9A-4D46-A9E4-76D50F71E65A}"/>
              </a:ext>
            </a:extLst>
          </p:cNvPr>
          <p:cNvSpPr>
            <a:spLocks noGrp="1"/>
          </p:cNvSpPr>
          <p:nvPr/>
        </p:nvSpPr>
        <p:spPr>
          <a:xfrm>
            <a:off x="6438900" y="22002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Current contribution (VND)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AA171-32F4-411C-91C6-4F49477EA1AC}"/>
              </a:ext>
            </a:extLst>
          </p:cNvPr>
          <p:cNvSpPr>
            <a:spLocks noGrp="1"/>
          </p:cNvSpPr>
          <p:nvPr/>
        </p:nvSpPr>
        <p:spPr>
          <a:xfrm>
            <a:off x="9296400" y="16573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 i="0">
                <a:solidFill>
                  <a:srgbClr val="A21C63"/>
                </a:solidFill>
              </a:defRPr>
            </a:pPr>
            <a:r>
              <a:rPr sz="3450" b="1" i="0">
                <a:solidFill>
                  <a:srgbClr val="A21C63"/>
                </a:solidFill>
              </a:rPr>
              <a:t>13.39K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8A491-20F0-46F3-B5C7-8E61A981A686}"/>
              </a:ext>
            </a:extLst>
          </p:cNvPr>
          <p:cNvSpPr>
            <a:spLocks noGrp="1"/>
          </p:cNvSpPr>
          <p:nvPr/>
        </p:nvSpPr>
        <p:spPr>
          <a:xfrm>
            <a:off x="9296400" y="22002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Active 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1D2E2D-D6FF-4D26-A7C8-0B1BCAE67948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E8E1F1-70EB-4147-AAB6-2D3ACFAD653B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2D232A"/>
                </a:solidFill>
              </a:defRPr>
            </a:pPr>
            <a:r>
              <a:rPr sz="1500" b="1" i="0">
                <a:solidFill>
                  <a:srgbClr val="2D232A"/>
                </a:solidFill>
              </a:rPr>
              <a:t>Proposed cashback at 0% GMV uplift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686B9-A9B1-40C6-A021-3B052872BE87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C94C4C"/>
                </a:solidFill>
              </a:defRPr>
            </a:pPr>
            <a:r>
              <a:rPr sz="3750" b="1" i="0">
                <a:solidFill>
                  <a:srgbClr val="C94C4C"/>
                </a:solidFill>
              </a:rPr>
              <a:t>2.41M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CCA29F-F208-46E8-84B1-A88BD58AEAC3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proposed contribution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222DB-3C3B-4B13-A297-5107321CF6B4}"/>
              </a:ext>
            </a:extLst>
          </p:cNvPr>
          <p:cNvSpPr>
            <a:spLocks noGrp="1"/>
          </p:cNvSpPr>
          <p:nvPr/>
        </p:nvSpPr>
        <p:spPr>
          <a:xfrm>
            <a:off x="3695700" y="34480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C94C4C"/>
                </a:solidFill>
              </a:defRPr>
            </a:pPr>
            <a:r>
              <a:rPr sz="3750" b="1" i="0">
                <a:solidFill>
                  <a:srgbClr val="C94C4C"/>
                </a:solidFill>
              </a:rPr>
              <a:t>−79.5%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0A2CAB-854B-45D6-92B7-590F8FED237C}"/>
              </a:ext>
            </a:extLst>
          </p:cNvPr>
          <p:cNvSpPr>
            <a:spLocks noGrp="1"/>
          </p:cNvSpPr>
          <p:nvPr/>
        </p:nvSpPr>
        <p:spPr>
          <a:xfrm>
            <a:off x="3695700" y="40290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vs. current contribution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CF4EF7-7737-4B20-847F-9B5E46321A87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C1842F"/>
                </a:solidFill>
              </a:defRPr>
            </a:pPr>
            <a:r>
              <a:rPr sz="3750" b="1" i="0">
                <a:solidFill>
                  <a:srgbClr val="C1842F"/>
                </a:solidFill>
              </a:rPr>
              <a:t>~389%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884C00-8BDD-4597-8B0E-20DF1EA16A4E}"/>
              </a:ext>
            </a:extLst>
          </p:cNvPr>
          <p:cNvSpPr>
            <a:spLocks noGrp="1"/>
          </p:cNvSpPr>
          <p:nvPr/>
        </p:nvSpPr>
        <p:spPr>
          <a:xfrm>
            <a:off x="6667500" y="40290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overall GMV lift required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CBE032-4B92-4A26-BDF8-BD7105C889D5}"/>
              </a:ext>
            </a:extLst>
          </p:cNvPr>
          <p:cNvSpPr>
            <a:spLocks noGrp="1"/>
          </p:cNvSpPr>
          <p:nvPr/>
        </p:nvSpPr>
        <p:spPr>
          <a:xfrm>
            <a:off x="723900" y="4895846"/>
            <a:ext cx="10858500" cy="1085853"/>
          </a:xfrm>
          <a:prstGeom prst="roundRect">
            <a:avLst>
              <a:gd name="adj" fmla="val 9375"/>
            </a:avLst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3C7D22-9E37-4103-93A5-B733D506A761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E887B6"/>
                </a:solidFill>
              </a:defRPr>
            </a:pPr>
            <a:r>
              <a:rPr sz="1350" b="1" i="0">
                <a:solidFill>
                  <a:srgbClr val="E887B6"/>
                </a:solidFill>
              </a:rPr>
              <a:t>Decision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91DED4-8F6B-4571-B4BB-76075BD692FE}"/>
              </a:ext>
            </a:extLst>
          </p:cNvPr>
          <p:cNvSpPr>
            <a:spLocks noGrp="1"/>
          </p:cNvSpPr>
          <p:nvPr/>
        </p:nvSpPr>
        <p:spPr>
          <a:xfrm>
            <a:off x="866775" y="5229225"/>
            <a:ext cx="1019933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 dirty="0">
                <a:solidFill>
                  <a:srgbClr val="FFFFFF"/>
                </a:solidFill>
              </a:rPr>
              <a:t>Reject blanket cashback. Test by merchant, cap spend, and scale only when incremental contribution is positive.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90EFBD-AF2C-4F5F-9828-BC5A4ACB0C1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70BEB7-6942-4331-91CB-C174E6F39C5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87976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A17C08D-0402-40EA-864E-AAC90E4B563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BUSINESS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590C4B-6909-4E5E-9D34-69EA7C6AAAB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Competitive pressure creates a growth–profitability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2D1D3-73AE-4E5F-A8C0-D86F43269B5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AFC75-D547-4CDD-8BD9-81B710A822D8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03</a:t>
            </a:r>
          </a:p>
        </p:txBody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23900" y="16573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CAF5B6-0D09-4271-82AD-CB0C1EF83E84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 i="0">
                <a:solidFill>
                  <a:srgbClr val="2D232A"/>
                </a:solidFill>
              </a:defRPr>
            </a:pPr>
            <a:r>
              <a:rPr sz="1875" b="1" i="0">
                <a:solidFill>
                  <a:srgbClr val="2D232A"/>
                </a:solidFill>
              </a:rPr>
              <a:t>Why this matters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65086C-F80B-4DAF-BBAC-CD3FF241D399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428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514C54"/>
                </a:solidFill>
              </a:defRPr>
            </a:pPr>
            <a:r>
              <a:rPr sz="1500" b="0" i="0">
                <a:solidFill>
                  <a:srgbClr val="514C54"/>
                </a:solidFill>
              </a:rPr>
              <a:t>Mobile Topup is a high-reach, recurring service that supports engagement and platform revenue. Competitors use aggressive cashback to acquire and retain users, putting pressure on MoMo to respond.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6CFF5-FAFB-49FB-9BBD-69D6C8B7420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A21C63"/>
                </a:solidFill>
              </a:defRPr>
            </a:pPr>
            <a:r>
              <a:rPr sz="1350" b="1" i="0">
                <a:solidFill>
                  <a:srgbClr val="A21C63"/>
                </a:solidFill>
              </a:rPr>
              <a:t>Core tension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E79F8-8A35-430A-9D8D-D6BFB9EA53E6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428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 i="0">
                <a:solidFill>
                  <a:srgbClr val="2D232A"/>
                </a:solidFill>
              </a:defRPr>
            </a:pPr>
            <a:r>
              <a:rPr sz="1875" b="1" i="0">
                <a:solidFill>
                  <a:srgbClr val="2D232A"/>
                </a:solidFill>
              </a:rPr>
              <a:t>Can higher cashback create enough incremental volume to replace the contribution it sacrifices?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3FDE80-EA3E-40B4-B35C-1069C3ABCF25}"/>
              </a:ext>
            </a:extLst>
          </p:cNvPr>
          <p:cNvSpPr>
            <a:spLocks noGrp="1"/>
          </p:cNvSpPr>
          <p:nvPr/>
        </p:nvSpPr>
        <p:spPr>
          <a:xfrm>
            <a:off x="5600700" y="1619250"/>
            <a:ext cx="5981700" cy="42862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62650" y="1943100"/>
            <a:ext cx="495300" cy="4953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16B549-2329-4C2B-BDAA-780D29A5E282}"/>
              </a:ext>
            </a:extLst>
          </p:cNvPr>
          <p:cNvSpPr>
            <a:spLocks noGrp="1"/>
          </p:cNvSpPr>
          <p:nvPr/>
        </p:nvSpPr>
        <p:spPr>
          <a:xfrm>
            <a:off x="6629400" y="19716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 i="0">
                <a:solidFill>
                  <a:srgbClr val="2D232A"/>
                </a:solidFill>
              </a:defRPr>
            </a:pPr>
            <a:r>
              <a:rPr sz="1950" b="1" i="0">
                <a:solidFill>
                  <a:srgbClr val="2D232A"/>
                </a:solidFill>
              </a:rPr>
              <a:t>Overall objective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C958A-15CA-4594-ADE4-9F63852518B1}"/>
              </a:ext>
            </a:extLst>
          </p:cNvPr>
          <p:cNvSpPr>
            <a:spLocks noGrp="1"/>
          </p:cNvSpPr>
          <p:nvPr/>
        </p:nvSpPr>
        <p:spPr>
          <a:xfrm>
            <a:off x="5962650" y="2533650"/>
            <a:ext cx="5048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514C54"/>
                </a:solidFill>
              </a:defRPr>
            </a:pPr>
            <a:r>
              <a:rPr sz="1425" b="0" i="0">
                <a:solidFill>
                  <a:srgbClr val="514C54"/>
                </a:solidFill>
              </a:rPr>
              <a:t>Build an end-to-end SQL Server and Power BI solution that explains performance, identifies growth drivers and tests cashback sustainability.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4E35C-4366-4B92-A001-22EEC467FB95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504825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937B82-13AB-4FD0-A849-72B0380AE340}"/>
              </a:ext>
            </a:extLst>
          </p:cNvPr>
          <p:cNvSpPr>
            <a:spLocks noGrp="1"/>
          </p:cNvSpPr>
          <p:nvPr/>
        </p:nvSpPr>
        <p:spPr>
          <a:xfrm>
            <a:off x="5962650" y="38195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23179C-CC0A-4AC0-B710-41C9C28EE679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481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Monitor monthly transaction, customer and financial performance.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27D80-3FAE-40C3-AD53-FAD935B71412}"/>
              </a:ext>
            </a:extLst>
          </p:cNvPr>
          <p:cNvSpPr>
            <a:spLocks noGrp="1"/>
          </p:cNvSpPr>
          <p:nvPr/>
        </p:nvSpPr>
        <p:spPr>
          <a:xfrm>
            <a:off x="5962650" y="43910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91C7FC-BFAF-490D-AA74-00CD18CD0A1D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481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Identify time, merchant and customer drivers of GMV and revenue.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632C1F-A3EA-4616-89F4-8493C5FC9F38}"/>
              </a:ext>
            </a:extLst>
          </p:cNvPr>
          <p:cNvSpPr>
            <a:spLocks noGrp="1"/>
          </p:cNvSpPr>
          <p:nvPr/>
        </p:nvSpPr>
        <p:spPr>
          <a:xfrm>
            <a:off x="5962650" y="49625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E07E0B-B07B-4A0F-9094-EE3E805317AE}"/>
              </a:ext>
            </a:extLst>
          </p:cNvPr>
          <p:cNvSpPr>
            <a:spLocks noGrp="1"/>
          </p:cNvSpPr>
          <p:nvPr/>
        </p:nvSpPr>
        <p:spPr>
          <a:xfrm>
            <a:off x="6191250" y="4972050"/>
            <a:ext cx="481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Quantify cashback economics and recommend controlled actions.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4D3258-5040-4AD8-AAE9-E66EBFFE88C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77DDC7-44B5-4864-AB3C-288BCCA593F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27018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948EACA-C5B4-4D1A-8A02-F38039961F6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DIAGNOSTIC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CABCDC-6A1B-4818-B8AC-32C96C9CA91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Five lenses turn results into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29C2A7-6A16-45E8-BB61-85E535A2116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00E16-F4FF-416E-BE7C-0F9485F4581C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B9641-046E-4015-875A-660BD9FB37D0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10134600" cy="38100"/>
          </a:xfrm>
          <a:prstGeom prst="rect">
            <a:avLst/>
          </a:prstGeom>
          <a:solidFill>
            <a:srgbClr val="F6DCE9"/>
          </a:solidFill>
          <a:ln w="0">
            <a:solidFill>
              <a:srgbClr val="F6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80C117-C2AC-43AE-8628-73E1EE5D6449}"/>
              </a:ext>
            </a:extLst>
          </p:cNvPr>
          <p:cNvSpPr>
            <a:spLocks noGrp="1"/>
          </p:cNvSpPr>
          <p:nvPr/>
        </p:nvSpPr>
        <p:spPr>
          <a:xfrm>
            <a:off x="1428750" y="2143125"/>
            <a:ext cx="533400" cy="533400"/>
          </a:xfrm>
          <a:prstGeom prst="ellipse">
            <a:avLst/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8A0CF-F427-4389-8F4B-548247AF1C69}"/>
              </a:ext>
            </a:extLst>
          </p:cNvPr>
          <p:cNvSpPr>
            <a:spLocks noGrp="1"/>
          </p:cNvSpPr>
          <p:nvPr/>
        </p:nvSpPr>
        <p:spPr>
          <a:xfrm>
            <a:off x="1428750" y="22764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F0D7C7-9073-4BE1-85EC-6386191A822A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Performance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5F441-994C-4E71-953A-09B75A4FF055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1866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Track GMV, orders, users and contribution.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2064AD-E44A-4B31-B320-EDD7D828B18A}"/>
              </a:ext>
            </a:extLst>
          </p:cNvPr>
          <p:cNvSpPr>
            <a:spLocks noGrp="1"/>
          </p:cNvSpPr>
          <p:nvPr/>
        </p:nvSpPr>
        <p:spPr>
          <a:xfrm>
            <a:off x="3676650" y="2143125"/>
            <a:ext cx="533400" cy="533400"/>
          </a:xfrm>
          <a:prstGeom prst="ellipse">
            <a:avLst/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E056E-4310-4D0C-8BA4-86A64540D91F}"/>
              </a:ext>
            </a:extLst>
          </p:cNvPr>
          <p:cNvSpPr>
            <a:spLocks noGrp="1"/>
          </p:cNvSpPr>
          <p:nvPr/>
        </p:nvSpPr>
        <p:spPr>
          <a:xfrm>
            <a:off x="3676650" y="22764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A11D03-42C1-495B-8939-A134A53B8036}"/>
              </a:ext>
            </a:extLst>
          </p:cNvPr>
          <p:cNvSpPr>
            <a:spLocks noGrp="1"/>
          </p:cNvSpPr>
          <p:nvPr/>
        </p:nvSpPr>
        <p:spPr>
          <a:xfrm>
            <a:off x="3009900" y="3009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Drivers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10C69-1029-4780-BCEA-660B17CCA42F}"/>
              </a:ext>
            </a:extLst>
          </p:cNvPr>
          <p:cNvSpPr>
            <a:spLocks noGrp="1"/>
          </p:cNvSpPr>
          <p:nvPr/>
        </p:nvSpPr>
        <p:spPr>
          <a:xfrm>
            <a:off x="3009900" y="3429000"/>
            <a:ext cx="1866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Decompose GMV, revenue and contribution.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6D89BA-335C-4E76-A7E0-849B2FBFEA54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533400" cy="533400"/>
          </a:xfrm>
          <a:prstGeom prst="ellipse">
            <a:avLst/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DCE5A9-B68D-4203-BE35-15EB3D582715}"/>
              </a:ext>
            </a:extLst>
          </p:cNvPr>
          <p:cNvSpPr>
            <a:spLocks noGrp="1"/>
          </p:cNvSpPr>
          <p:nvPr/>
        </p:nvSpPr>
        <p:spPr>
          <a:xfrm>
            <a:off x="5924550" y="22764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1F8D09-E68D-4A88-B70A-0FEC3B90E3C2}"/>
              </a:ext>
            </a:extLst>
          </p:cNvPr>
          <p:cNvSpPr>
            <a:spLocks noGrp="1"/>
          </p:cNvSpPr>
          <p:nvPr/>
        </p:nvSpPr>
        <p:spPr>
          <a:xfrm>
            <a:off x="5257800" y="3009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Value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CFBE40-A1FF-45AD-AD31-0BB122EE2994}"/>
              </a:ext>
            </a:extLst>
          </p:cNvPr>
          <p:cNvSpPr>
            <a:spLocks noGrp="1"/>
          </p:cNvSpPr>
          <p:nvPr/>
        </p:nvSpPr>
        <p:spPr>
          <a:xfrm>
            <a:off x="5257800" y="3429000"/>
            <a:ext cx="1866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Compare merchant margin and customer value.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14C8BB-A83D-46D9-8802-2C5D135B7132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533400" cy="533400"/>
          </a:xfrm>
          <a:prstGeom prst="ellipse">
            <a:avLst/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C230A-7C12-4A41-A3D6-39DA5ABD37D4}"/>
              </a:ext>
            </a:extLst>
          </p:cNvPr>
          <p:cNvSpPr>
            <a:spLocks noGrp="1"/>
          </p:cNvSpPr>
          <p:nvPr/>
        </p:nvSpPr>
        <p:spPr>
          <a:xfrm>
            <a:off x="8172450" y="22764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12562F-E0CE-4B9A-8DFC-E473327688FF}"/>
              </a:ext>
            </a:extLst>
          </p:cNvPr>
          <p:cNvSpPr>
            <a:spLocks noGrp="1"/>
          </p:cNvSpPr>
          <p:nvPr/>
        </p:nvSpPr>
        <p:spPr>
          <a:xfrm>
            <a:off x="7505700" y="3009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E2C43-85C7-4911-990D-0AF00C3D64B7}"/>
              </a:ext>
            </a:extLst>
          </p:cNvPr>
          <p:cNvSpPr>
            <a:spLocks noGrp="1"/>
          </p:cNvSpPr>
          <p:nvPr/>
        </p:nvSpPr>
        <p:spPr>
          <a:xfrm>
            <a:off x="7505700" y="3429000"/>
            <a:ext cx="1866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Separate proven drivers from hypotheses.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3B7B956-BA0A-480F-9C5B-1F5BB73043EF}"/>
              </a:ext>
            </a:extLst>
          </p:cNvPr>
          <p:cNvSpPr>
            <a:spLocks noGrp="1"/>
          </p:cNvSpPr>
          <p:nvPr/>
        </p:nvSpPr>
        <p:spPr>
          <a:xfrm>
            <a:off x="10420350" y="2143125"/>
            <a:ext cx="533400" cy="533400"/>
          </a:xfrm>
          <a:prstGeom prst="ellipse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D687DB-98C3-4369-B846-8C6AD83BF67D}"/>
              </a:ext>
            </a:extLst>
          </p:cNvPr>
          <p:cNvSpPr>
            <a:spLocks noGrp="1"/>
          </p:cNvSpPr>
          <p:nvPr/>
        </p:nvSpPr>
        <p:spPr>
          <a:xfrm>
            <a:off x="10420350" y="22764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A02802-DF02-4D4F-BA1D-1B28E8C60F0B}"/>
              </a:ext>
            </a:extLst>
          </p:cNvPr>
          <p:cNvSpPr>
            <a:spLocks noGrp="1"/>
          </p:cNvSpPr>
          <p:nvPr/>
        </p:nvSpPr>
        <p:spPr>
          <a:xfrm>
            <a:off x="9753600" y="3009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A21C63"/>
                </a:solidFill>
              </a:defRPr>
            </a:pPr>
            <a:r>
              <a:rPr sz="1725" b="1" i="0">
                <a:solidFill>
                  <a:srgbClr val="A21C63"/>
                </a:solidFill>
              </a:rPr>
              <a:t>Decision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61D846-DD5E-4BD3-B865-703B4CC3F545}"/>
              </a:ext>
            </a:extLst>
          </p:cNvPr>
          <p:cNvSpPr>
            <a:spLocks noGrp="1"/>
          </p:cNvSpPr>
          <p:nvPr/>
        </p:nvSpPr>
        <p:spPr>
          <a:xfrm>
            <a:off x="9753600" y="3429000"/>
            <a:ext cx="1866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514C54"/>
                </a:solidFill>
              </a:defRPr>
            </a:pPr>
            <a:r>
              <a:rPr sz="1275" b="0" i="0">
                <a:solidFill>
                  <a:srgbClr val="514C54"/>
                </a:solidFill>
              </a:rPr>
              <a:t>Choose actions using incremental contribution.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752729-2BFC-463A-8DE7-2EAAF03FCD48}"/>
              </a:ext>
            </a:extLst>
          </p:cNvPr>
          <p:cNvSpPr>
            <a:spLocks noGrp="1"/>
          </p:cNvSpPr>
          <p:nvPr/>
        </p:nvSpPr>
        <p:spPr>
          <a:xfrm>
            <a:off x="1638300" y="5143500"/>
            <a:ext cx="9829800" cy="628650"/>
          </a:xfrm>
          <a:prstGeom prst="roundRect">
            <a:avLst>
              <a:gd name="adj" fmla="val 18182"/>
            </a:avLst>
          </a:prstGeom>
          <a:solidFill>
            <a:srgbClr val="FBEFF5"/>
          </a:solidFill>
          <a:ln w="0">
            <a:solidFill>
              <a:srgbClr val="FB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4B0C4E-6C9C-4CC7-87A5-3BCD6CF433DC}"/>
              </a:ext>
            </a:extLst>
          </p:cNvPr>
          <p:cNvSpPr>
            <a:spLocks noGrp="1"/>
          </p:cNvSpPr>
          <p:nvPr/>
        </p:nvSpPr>
        <p:spPr>
          <a:xfrm>
            <a:off x="1885950" y="5324475"/>
            <a:ext cx="935432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8E174F"/>
                </a:solidFill>
              </a:defRPr>
            </a:pPr>
            <a:r>
              <a:rPr sz="1650" b="1" i="0" dirty="0">
                <a:solidFill>
                  <a:srgbClr val="8E174F"/>
                </a:solidFill>
              </a:rPr>
              <a:t>Decision rule: explain the driver, state the evidence limit, then act on contribution—not GMV alone.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1AC611-4C67-4345-9E65-3504ED20E24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3D9587-A352-44B5-B3CD-7F7A8F4EB16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73214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F062A1C-DE47-44C1-AD4B-690A6B5E09B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DATA 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F5DB3-D8AC-4E51-BB3A-73BFBC4B366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A three-layer SQL pipeline makes the analysis reproducible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A41D53-D5B1-4DAC-B18F-FA24793191A1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6F86A-E265-4640-9035-F6071768137E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8B5D9-A0E2-4EE9-87A2-59942A2C6F70}"/>
              </a:ext>
            </a:extLst>
          </p:cNvPr>
          <p:cNvSpPr>
            <a:spLocks noGrp="1"/>
          </p:cNvSpPr>
          <p:nvPr/>
        </p:nvSpPr>
        <p:spPr>
          <a:xfrm>
            <a:off x="2990850" y="20764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700" b="1" i="0">
                <a:solidFill>
                  <a:srgbClr val="746E76"/>
                </a:solidFill>
              </a:defRPr>
            </a:pPr>
            <a:r>
              <a:rPr sz="2700" b="1" i="0">
                <a:solidFill>
                  <a:srgbClr val="746E76"/>
                </a:solidFill>
              </a:rPr>
              <a:t>→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6494EF-C7DA-4003-8388-E6147137DD9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1907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2B535A-0A5A-4786-B312-E33A4C098DAD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 i="0">
                <a:solidFill>
                  <a:srgbClr val="2D232A"/>
                </a:solidFill>
              </a:defRPr>
            </a:pPr>
            <a:r>
              <a:rPr sz="1500" b="1" i="0">
                <a:solidFill>
                  <a:srgbClr val="2D232A"/>
                </a:solidFill>
              </a:rPr>
              <a:t>RAW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814B2-3C1B-48A6-9C59-D9B862A3B355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2D232A"/>
                </a:solidFill>
              </a:defRPr>
            </a:pPr>
            <a:r>
              <a:rPr sz="1200" b="1" i="0">
                <a:solidFill>
                  <a:srgbClr val="2D232A"/>
                </a:solidFill>
              </a:rPr>
              <a:t>Preserve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B6B73-2683-40D8-921B-FD95EBCE4E28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Source transaction + user files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No transformations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7E905-4CA0-42DB-BADD-70F98AEFBDA9}"/>
              </a:ext>
            </a:extLst>
          </p:cNvPr>
          <p:cNvSpPr>
            <a:spLocks noGrp="1"/>
          </p:cNvSpPr>
          <p:nvPr/>
        </p:nvSpPr>
        <p:spPr>
          <a:xfrm>
            <a:off x="6019800" y="20764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700" b="1" i="0">
                <a:solidFill>
                  <a:srgbClr val="746E76"/>
                </a:solidFill>
              </a:defRPr>
            </a:pPr>
            <a:r>
              <a:rPr sz="2700" b="1" i="0">
                <a:solidFill>
                  <a:srgbClr val="746E76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F0681B-B27E-4A32-984D-2C28210CFF38}"/>
              </a:ext>
            </a:extLst>
          </p:cNvPr>
          <p:cNvSpPr>
            <a:spLocks noGrp="1"/>
          </p:cNvSpPr>
          <p:nvPr/>
        </p:nvSpPr>
        <p:spPr>
          <a:xfrm>
            <a:off x="3714750" y="1695450"/>
            <a:ext cx="21907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5E2625-F882-4F19-AB7C-5FD69138D390}"/>
              </a:ext>
            </a:extLst>
          </p:cNvPr>
          <p:cNvSpPr>
            <a:spLocks noGrp="1"/>
          </p:cNvSpPr>
          <p:nvPr/>
        </p:nvSpPr>
        <p:spPr>
          <a:xfrm>
            <a:off x="3886200" y="18859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STAGING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809D9-34E1-42AD-B530-AFD892EFE6AD}"/>
              </a:ext>
            </a:extLst>
          </p:cNvPr>
          <p:cNvSpPr>
            <a:spLocks noGrp="1"/>
          </p:cNvSpPr>
          <p:nvPr/>
        </p:nvSpPr>
        <p:spPr>
          <a:xfrm>
            <a:off x="3886200" y="220980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2D232A"/>
                </a:solidFill>
              </a:defRPr>
            </a:pPr>
            <a:r>
              <a:rPr sz="1200" b="1" i="0">
                <a:solidFill>
                  <a:srgbClr val="2D232A"/>
                </a:solidFill>
              </a:rPr>
              <a:t>Clean and standardize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E1422E-A8E7-4D20-9DFA-AA4EA2F2FE66}"/>
              </a:ext>
            </a:extLst>
          </p:cNvPr>
          <p:cNvSpPr>
            <a:spLocks noGrp="1"/>
          </p:cNvSpPr>
          <p:nvPr/>
        </p:nvSpPr>
        <p:spPr>
          <a:xfrm>
            <a:off x="3886200" y="25717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Dates • locations • gender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Validation + derived fields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7F3F8-DA2D-4AF9-B5EB-C62D8DA425FB}"/>
              </a:ext>
            </a:extLst>
          </p:cNvPr>
          <p:cNvSpPr>
            <a:spLocks noGrp="1"/>
          </p:cNvSpPr>
          <p:nvPr/>
        </p:nvSpPr>
        <p:spPr>
          <a:xfrm>
            <a:off x="9048750" y="20764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700" b="1" i="0">
                <a:solidFill>
                  <a:srgbClr val="746E76"/>
                </a:solidFill>
              </a:defRPr>
            </a:pPr>
            <a:r>
              <a:rPr sz="2700" b="1" i="0">
                <a:solidFill>
                  <a:srgbClr val="746E76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75F6BC-78B8-4876-9C77-3B1E72C2778D}"/>
              </a:ext>
            </a:extLst>
          </p:cNvPr>
          <p:cNvSpPr>
            <a:spLocks noGrp="1"/>
          </p:cNvSpPr>
          <p:nvPr/>
        </p:nvSpPr>
        <p:spPr>
          <a:xfrm>
            <a:off x="6743700" y="1695450"/>
            <a:ext cx="21907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C19BFC-6F0F-491F-AFCB-8F009CA37108}"/>
              </a:ext>
            </a:extLst>
          </p:cNvPr>
          <p:cNvSpPr>
            <a:spLocks noGrp="1"/>
          </p:cNvSpPr>
          <p:nvPr/>
        </p:nvSpPr>
        <p:spPr>
          <a:xfrm>
            <a:off x="6915150" y="18859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 i="0">
                <a:solidFill>
                  <a:srgbClr val="2F8F6B"/>
                </a:solidFill>
              </a:defRPr>
            </a:pPr>
            <a:r>
              <a:rPr sz="1275" b="1" i="0">
                <a:solidFill>
                  <a:srgbClr val="2F8F6B"/>
                </a:solidFill>
              </a:rPr>
              <a:t>DATA WAREHOUSE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EAD116-BA6D-48E2-AE91-F2063AE8A91E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2D232A"/>
                </a:solidFill>
              </a:defRPr>
            </a:pPr>
            <a:r>
              <a:rPr sz="1200" b="1" i="0">
                <a:solidFill>
                  <a:srgbClr val="2D232A"/>
                </a:solidFill>
              </a:rPr>
              <a:t>Model for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1B7134-1CEE-4A60-B00E-B1E05CB11EEF}"/>
              </a:ext>
            </a:extLst>
          </p:cNvPr>
          <p:cNvSpPr>
            <a:spLocks noGrp="1"/>
          </p:cNvSpPr>
          <p:nvPr/>
        </p:nvSpPr>
        <p:spPr>
          <a:xfrm>
            <a:off x="6915150" y="25717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Conformed dimensions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Transaction-grain fact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8F8129-3AA4-4C83-AC6A-81A4F189862F}"/>
              </a:ext>
            </a:extLst>
          </p:cNvPr>
          <p:cNvSpPr>
            <a:spLocks noGrp="1"/>
          </p:cNvSpPr>
          <p:nvPr/>
        </p:nvSpPr>
        <p:spPr>
          <a:xfrm>
            <a:off x="9772650" y="1695450"/>
            <a:ext cx="21907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18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F4FBA5-F3CF-4E9D-BE4D-422BC4A19165}"/>
              </a:ext>
            </a:extLst>
          </p:cNvPr>
          <p:cNvSpPr>
            <a:spLocks noGrp="1"/>
          </p:cNvSpPr>
          <p:nvPr/>
        </p:nvSpPr>
        <p:spPr>
          <a:xfrm>
            <a:off x="9944100" y="18859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 i="0">
                <a:solidFill>
                  <a:srgbClr val="C1842F"/>
                </a:solidFill>
              </a:defRPr>
            </a:pPr>
            <a:r>
              <a:rPr sz="1500" b="1" i="0">
                <a:solidFill>
                  <a:srgbClr val="C1842F"/>
                </a:solidFill>
              </a:rPr>
              <a:t>POWER BI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C8046-8406-4F71-8D56-041B98275A5E}"/>
              </a:ext>
            </a:extLst>
          </p:cNvPr>
          <p:cNvSpPr>
            <a:spLocks noGrp="1"/>
          </p:cNvSpPr>
          <p:nvPr/>
        </p:nvSpPr>
        <p:spPr>
          <a:xfrm>
            <a:off x="9944100" y="220980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 i="0">
                <a:solidFill>
                  <a:srgbClr val="2D232A"/>
                </a:solidFill>
              </a:defRPr>
            </a:pPr>
            <a:r>
              <a:rPr sz="1200" b="1" i="0">
                <a:solidFill>
                  <a:srgbClr val="2D232A"/>
                </a:solidFill>
              </a:rPr>
              <a:t>Measure and decide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7A5F59-73F3-4AB8-8856-28CF5F868D19}"/>
              </a:ext>
            </a:extLst>
          </p:cNvPr>
          <p:cNvSpPr>
            <a:spLocks noGrp="1"/>
          </p:cNvSpPr>
          <p:nvPr/>
        </p:nvSpPr>
        <p:spPr>
          <a:xfrm>
            <a:off x="9944100" y="25717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DAX measures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Interactive scenarios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EFF3B8-BAF9-40BE-A11F-5C05AF77D5C1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Examples of source issues resolved in staging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0D3490B-F0CE-4731-92D6-DA8D8A9E2790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1093470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6372" y="3943350"/>
            <a:ext cx="10779255" cy="1581150"/>
          </a:xfrm>
          <a:prstGeom prst="roundRect">
            <a:avLst>
              <a:gd name="adj" fmla="val 4819"/>
            </a:avLst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BBBB4DD-EBF4-4616-969C-C6A94B5C23F1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C94C4C"/>
                </a:solidFill>
              </a:defRPr>
            </a:pPr>
            <a:r>
              <a:rPr sz="1200" b="1" i="0">
                <a:solidFill>
                  <a:srgbClr val="C94C4C"/>
                </a:solidFill>
              </a:rPr>
              <a:t>Mixed date formats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12F0E-49D3-4B74-A8F4-189BAF189C6A}"/>
              </a:ext>
            </a:extLst>
          </p:cNvPr>
          <p:cNvSpPr>
            <a:spLocks noGrp="1"/>
          </p:cNvSpPr>
          <p:nvPr/>
        </p:nvSpPr>
        <p:spPr>
          <a:xfrm>
            <a:off x="3333750" y="56578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C94C4C"/>
                </a:solidFill>
              </a:defRPr>
            </a:pPr>
            <a:r>
              <a:rPr sz="1200" b="1" i="0">
                <a:solidFill>
                  <a:srgbClr val="C94C4C"/>
                </a:solidFill>
              </a:rPr>
              <a:t>Invalid first transaction date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5A1468-6E18-418C-96D3-2DED13C0B2E6}"/>
              </a:ext>
            </a:extLst>
          </p:cNvPr>
          <p:cNvSpPr>
            <a:spLocks noGrp="1"/>
          </p:cNvSpPr>
          <p:nvPr/>
        </p:nvSpPr>
        <p:spPr>
          <a:xfrm>
            <a:off x="6457950" y="565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C94C4C"/>
                </a:solidFill>
              </a:defRPr>
            </a:pPr>
            <a:r>
              <a:rPr sz="1200" b="1" i="0">
                <a:solidFill>
                  <a:srgbClr val="C94C4C"/>
                </a:solidFill>
              </a:rPr>
              <a:t>HCMC / HN location aliases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9A1E2B-22D2-49F9-9B07-7E73DC460878}"/>
              </a:ext>
            </a:extLst>
          </p:cNvPr>
          <p:cNvSpPr>
            <a:spLocks noGrp="1"/>
          </p:cNvSpPr>
          <p:nvPr/>
        </p:nvSpPr>
        <p:spPr>
          <a:xfrm>
            <a:off x="9334500" y="5657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C94C4C"/>
                </a:solidFill>
              </a:defRPr>
            </a:pPr>
            <a:r>
              <a:rPr sz="1200" b="1" i="0">
                <a:solidFill>
                  <a:srgbClr val="C94C4C"/>
                </a:solidFill>
              </a:rPr>
              <a:t>Gender capitalization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0104FC-D6F2-4EAA-A0FA-41E2213DD6E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6C1C63-F697-48F3-B605-F216D333B11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92608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8BFE99C-D23D-4624-B71E-3AEB672FBBD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DATA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43B9EB-9A26-43A8-AAF5-DBFCC7081DF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The warehouse separates entities from transactions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A15AD-C30A-4F57-9C22-6FBB5FEA296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B61BC-85C3-42F0-9103-67B84DC4E6F8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0B7C3-773A-4C0E-943F-311133B75954}"/>
              </a:ext>
            </a:extLst>
          </p:cNvPr>
          <p:cNvSpPr>
            <a:spLocks noGrp="1"/>
          </p:cNvSpPr>
          <p:nvPr/>
        </p:nvSpPr>
        <p:spPr>
          <a:xfrm>
            <a:off x="3705225" y="3550103"/>
            <a:ext cx="1143000" cy="38100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1498F-0AB6-482C-8DF7-B501DA60D975}"/>
              </a:ext>
            </a:extLst>
          </p:cNvPr>
          <p:cNvSpPr>
            <a:spLocks noGrp="1"/>
          </p:cNvSpPr>
          <p:nvPr/>
        </p:nvSpPr>
        <p:spPr>
          <a:xfrm>
            <a:off x="7296150" y="3550103"/>
            <a:ext cx="1143000" cy="38100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9210BC-8AAE-4813-88C4-5DEFA3FD9082}"/>
              </a:ext>
            </a:extLst>
          </p:cNvPr>
          <p:cNvSpPr>
            <a:spLocks noGrp="1"/>
          </p:cNvSpPr>
          <p:nvPr/>
        </p:nvSpPr>
        <p:spPr>
          <a:xfrm>
            <a:off x="6076950" y="2095500"/>
            <a:ext cx="38100" cy="819150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202629-4C43-458A-9AD8-E7ECA0BC755C}"/>
              </a:ext>
            </a:extLst>
          </p:cNvPr>
          <p:cNvSpPr>
            <a:spLocks noGrp="1"/>
          </p:cNvSpPr>
          <p:nvPr/>
        </p:nvSpPr>
        <p:spPr>
          <a:xfrm flipH="1">
            <a:off x="6115049" y="4343400"/>
            <a:ext cx="45719" cy="419100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AA72AA-A9FC-430D-816C-CBD857674CAF}"/>
              </a:ext>
            </a:extLst>
          </p:cNvPr>
          <p:cNvSpPr>
            <a:spLocks noGrp="1"/>
          </p:cNvSpPr>
          <p:nvPr/>
        </p:nvSpPr>
        <p:spPr>
          <a:xfrm>
            <a:off x="4838700" y="2831258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239F8-769A-4C11-8780-9A31E10F8C4D}"/>
              </a:ext>
            </a:extLst>
          </p:cNvPr>
          <p:cNvSpPr>
            <a:spLocks noGrp="1"/>
          </p:cNvSpPr>
          <p:nvPr/>
        </p:nvSpPr>
        <p:spPr>
          <a:xfrm>
            <a:off x="5048250" y="3078908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 dirty="0" err="1">
                <a:solidFill>
                  <a:srgbClr val="FFFFFF"/>
                </a:solidFill>
              </a:rPr>
              <a:t>fact_transaction</a:t>
            </a:r>
            <a:endParaRPr sz="1725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84EDB1-4012-455C-8B62-89BEDAC44AF6}"/>
              </a:ext>
            </a:extLst>
          </p:cNvPr>
          <p:cNvSpPr>
            <a:spLocks noGrp="1"/>
          </p:cNvSpPr>
          <p:nvPr/>
        </p:nvSpPr>
        <p:spPr>
          <a:xfrm>
            <a:off x="5048250" y="3498008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 i="0">
                <a:solidFill>
                  <a:srgbClr val="F6DCE9"/>
                </a:solidFill>
              </a:defRPr>
            </a:pPr>
            <a:r>
              <a:rPr sz="1275" b="0" i="0">
                <a:solidFill>
                  <a:srgbClr val="F6DCE9"/>
                </a:solidFill>
              </a:rPr>
              <a:t>One row per Topup event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D5348-B67F-4C01-8AE3-9C8EF2E7FC78}"/>
              </a:ext>
            </a:extLst>
          </p:cNvPr>
          <p:cNvSpPr>
            <a:spLocks noGrp="1"/>
          </p:cNvSpPr>
          <p:nvPr/>
        </p:nvSpPr>
        <p:spPr>
          <a:xfrm>
            <a:off x="5048250" y="3859958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GMV • revenue • cashback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6B4F2E-DC81-4FC1-9307-71413C34E93A}"/>
              </a:ext>
            </a:extLst>
          </p:cNvPr>
          <p:cNvSpPr>
            <a:spLocks noGrp="1"/>
          </p:cNvSpPr>
          <p:nvPr/>
        </p:nvSpPr>
        <p:spPr>
          <a:xfrm>
            <a:off x="1228725" y="3016703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CF9BD0-7000-40B5-A7C2-183B7A35DD81}"/>
              </a:ext>
            </a:extLst>
          </p:cNvPr>
          <p:cNvSpPr>
            <a:spLocks noGrp="1"/>
          </p:cNvSpPr>
          <p:nvPr/>
        </p:nvSpPr>
        <p:spPr>
          <a:xfrm>
            <a:off x="1400175" y="3207203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2D232A"/>
                </a:solidFill>
              </a:defRPr>
            </a:pPr>
            <a:r>
              <a:rPr sz="1650" b="1" i="0">
                <a:solidFill>
                  <a:srgbClr val="2D232A"/>
                </a:solidFill>
              </a:rPr>
              <a:t>dw.dim_user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84E8B8-5BF8-4FFF-9332-36F2C126DBD9}"/>
              </a:ext>
            </a:extLst>
          </p:cNvPr>
          <p:cNvSpPr>
            <a:spLocks noGrp="1"/>
          </p:cNvSpPr>
          <p:nvPr/>
        </p:nvSpPr>
        <p:spPr>
          <a:xfrm>
            <a:off x="1400175" y="3569153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Gender • age • location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first transaction date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159931-4F98-4D10-91E8-5B6379B74289}"/>
              </a:ext>
            </a:extLst>
          </p:cNvPr>
          <p:cNvSpPr>
            <a:spLocks noGrp="1"/>
          </p:cNvSpPr>
          <p:nvPr/>
        </p:nvSpPr>
        <p:spPr>
          <a:xfrm>
            <a:off x="8439150" y="3016703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2D469D-6B2B-4C65-9617-A64C04528D0B}"/>
              </a:ext>
            </a:extLst>
          </p:cNvPr>
          <p:cNvSpPr>
            <a:spLocks noGrp="1"/>
          </p:cNvSpPr>
          <p:nvPr/>
        </p:nvSpPr>
        <p:spPr>
          <a:xfrm>
            <a:off x="8610600" y="3207203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2D232A"/>
                </a:solidFill>
              </a:defRPr>
            </a:pPr>
            <a:r>
              <a:rPr sz="1650" b="1" i="0">
                <a:solidFill>
                  <a:srgbClr val="2D232A"/>
                </a:solidFill>
              </a:rPr>
              <a:t>dw.dim_merchant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D5028B-2085-4268-9370-6ACF6B0F2BE8}"/>
              </a:ext>
            </a:extLst>
          </p:cNvPr>
          <p:cNvSpPr>
            <a:spLocks noGrp="1"/>
          </p:cNvSpPr>
          <p:nvPr/>
        </p:nvSpPr>
        <p:spPr>
          <a:xfrm>
            <a:off x="8610600" y="3569153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Merchant • commission rate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proposed cashback rate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3AAFA8-B5C5-4662-9B35-159B1946DF93}"/>
              </a:ext>
            </a:extLst>
          </p:cNvPr>
          <p:cNvSpPr>
            <a:spLocks noGrp="1"/>
          </p:cNvSpPr>
          <p:nvPr/>
        </p:nvSpPr>
        <p:spPr>
          <a:xfrm>
            <a:off x="4876799" y="1327571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D16722-7C86-4834-8523-8E5934761EB9}"/>
              </a:ext>
            </a:extLst>
          </p:cNvPr>
          <p:cNvSpPr>
            <a:spLocks noGrp="1"/>
          </p:cNvSpPr>
          <p:nvPr/>
        </p:nvSpPr>
        <p:spPr>
          <a:xfrm>
            <a:off x="5029200" y="14287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2D232A"/>
                </a:solidFill>
              </a:defRPr>
            </a:pPr>
            <a:r>
              <a:rPr sz="1650" b="1" i="0">
                <a:solidFill>
                  <a:srgbClr val="2D232A"/>
                </a:solidFill>
              </a:rPr>
              <a:t>dw.dim_date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41BE08-1F4F-4629-A588-37265BA8DF88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Day • week • month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quarter • year • weekend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270FA6-70AD-4DF0-85D7-4822C8C619CF}"/>
              </a:ext>
            </a:extLst>
          </p:cNvPr>
          <p:cNvSpPr>
            <a:spLocks noGrp="1"/>
          </p:cNvSpPr>
          <p:nvPr/>
        </p:nvSpPr>
        <p:spPr>
          <a:xfrm>
            <a:off x="4857750" y="47625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FAF1DD"/>
          </a:solidFill>
          <a:ln w="19050">
            <a:solidFill>
              <a:srgbClr val="C18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30D9F-0AD4-4062-A274-D49009C7C620}"/>
              </a:ext>
            </a:extLst>
          </p:cNvPr>
          <p:cNvSpPr>
            <a:spLocks noGrp="1"/>
          </p:cNvSpPr>
          <p:nvPr/>
        </p:nvSpPr>
        <p:spPr>
          <a:xfrm>
            <a:off x="5029200" y="49530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C1842F"/>
                </a:solidFill>
              </a:defRPr>
            </a:pPr>
            <a:r>
              <a:rPr sz="1650" b="1" i="0">
                <a:solidFill>
                  <a:srgbClr val="C1842F"/>
                </a:solidFill>
              </a:rPr>
              <a:t>DAX measure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288FCA-73D1-44A7-8493-B92EC094579A}"/>
              </a:ext>
            </a:extLst>
          </p:cNvPr>
          <p:cNvSpPr>
            <a:spLocks noGrp="1"/>
          </p:cNvSpPr>
          <p:nvPr/>
        </p:nvSpPr>
        <p:spPr>
          <a:xfrm>
            <a:off x="5029200" y="5314950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GMV • ARPU • contribution</a:t>
            </a:r>
          </a:p>
          <a:p>
            <a:pPr algn="ctr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>
                <a:solidFill>
                  <a:srgbClr val="514C54"/>
                </a:solidFill>
              </a:rPr>
              <a:t>scenario • break-even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BAABB5-751F-4112-8584-63EB341E0698}"/>
              </a:ext>
            </a:extLst>
          </p:cNvPr>
          <p:cNvSpPr>
            <a:spLocks noGrp="1"/>
          </p:cNvSpPr>
          <p:nvPr/>
        </p:nvSpPr>
        <p:spPr>
          <a:xfrm>
            <a:off x="704850" y="61722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 i="0">
                <a:solidFill>
                  <a:srgbClr val="8E174F"/>
                </a:solidFill>
              </a:defRPr>
            </a:pPr>
            <a:r>
              <a:rPr sz="1350" b="1" i="0" dirty="0" err="1">
                <a:solidFill>
                  <a:srgbClr val="8E174F"/>
                </a:solidFill>
              </a:rPr>
              <a:t>dim_date</a:t>
            </a:r>
            <a:r>
              <a:rPr sz="1350" b="1" i="0" dirty="0">
                <a:solidFill>
                  <a:srgbClr val="8E174F"/>
                </a:solidFill>
              </a:rPr>
              <a:t> is generated in SQL to guarantee a complete calendar and consistent Month, Quarter and Weekday analysis.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E46CE4-ADEA-48BD-AE48-0FE661ED58B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A4F74E-55CD-4C53-B6EC-6B3A5920BA7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93471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ED228FF-9A4F-4D1B-93C1-85408863002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DIAGNOSTIC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5E4DB-AD76-47B1-94ED-169ED277CD0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Three diagnostics explain the growth 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13623-8CB0-436F-A213-4DDCA398607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DFA1E-3614-4161-9104-46F22A18F63E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07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685800" y="1657350"/>
          <a:ext cx="6858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260B102-A4E4-45E2-B5FB-16D88B89C1FC}"/>
              </a:ext>
            </a:extLst>
          </p:cNvPr>
          <p:cNvSpPr>
            <a:spLocks noGrp="1"/>
          </p:cNvSpPr>
          <p:nvPr/>
        </p:nvSpPr>
        <p:spPr>
          <a:xfrm>
            <a:off x="1181100" y="15240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 dirty="0">
                <a:solidFill>
                  <a:srgbClr val="2D232A"/>
                </a:solidFill>
              </a:rPr>
              <a:t>Monthly GMV (VND millions)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7B89AE-AEE7-48DA-AEC3-4F8155C0E8E4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3771900" cy="857250"/>
          </a:xfrm>
          <a:prstGeom prst="roundRect">
            <a:avLst>
              <a:gd name="adj" fmla="val 13333"/>
            </a:avLst>
          </a:prstGeom>
          <a:solidFill>
            <a:srgbClr val="FBEFF5"/>
          </a:solidFill>
          <a:ln w="0">
            <a:solidFill>
              <a:srgbClr val="FB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D74FA-9EF3-4D81-9C5C-5E0882D52A96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 i="0">
                <a:solidFill>
                  <a:srgbClr val="A21C63"/>
                </a:solidFill>
              </a:defRPr>
            </a:pPr>
            <a:r>
              <a:rPr sz="2700" b="1" i="0">
                <a:solidFill>
                  <a:srgbClr val="A21C63"/>
                </a:solidFill>
              </a:rPr>
              <a:t>65.4M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118F7-6E5D-4970-AD19-7E7AC1D847E4}"/>
              </a:ext>
            </a:extLst>
          </p:cNvPr>
          <p:cNvSpPr>
            <a:spLocks noGrp="1"/>
          </p:cNvSpPr>
          <p:nvPr/>
        </p:nvSpPr>
        <p:spPr>
          <a:xfrm>
            <a:off x="9258300" y="18097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High AOV explains</a:t>
            </a:r>
          </a:p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part of Sep's peak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20F507-99FD-4E93-B7C4-9178E6A83D34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3771900" cy="857250"/>
          </a:xfrm>
          <a:prstGeom prst="roundRect">
            <a:avLst>
              <a:gd name="adj" fmla="val 13333"/>
            </a:avLst>
          </a:prstGeom>
          <a:solidFill>
            <a:srgbClr val="FAF1DD"/>
          </a:solidFill>
          <a:ln w="0">
            <a:solidFill>
              <a:srgbClr val="FAF1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86D769-56CA-40E2-8C39-AFFFD981A5F3}"/>
              </a:ext>
            </a:extLst>
          </p:cNvPr>
          <p:cNvSpPr>
            <a:spLocks noGrp="1"/>
          </p:cNvSpPr>
          <p:nvPr/>
        </p:nvSpPr>
        <p:spPr>
          <a:xfrm>
            <a:off x="8039100" y="28384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 i="0">
                <a:solidFill>
                  <a:srgbClr val="C1842F"/>
                </a:solidFill>
              </a:defRPr>
            </a:pPr>
            <a:r>
              <a:rPr sz="2700" b="1" i="0">
                <a:solidFill>
                  <a:srgbClr val="C1842F"/>
                </a:solidFill>
              </a:rPr>
              <a:t>2.9×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26868-FDAB-4854-A2B6-A8D6BCB0D883}"/>
              </a:ext>
            </a:extLst>
          </p:cNvPr>
          <p:cNvSpPr>
            <a:spLocks noGrp="1"/>
          </p:cNvSpPr>
          <p:nvPr/>
        </p:nvSpPr>
        <p:spPr>
          <a:xfrm>
            <a:off x="9258300" y="28384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2.9× AOV drives</a:t>
            </a:r>
          </a:p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outsized GMV share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918EE3-6D16-430D-AB4D-7D2C9343D2B8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3771900" cy="857250"/>
          </a:xfrm>
          <a:prstGeom prst="roundRect">
            <a:avLst>
              <a:gd name="adj" fmla="val 13333"/>
            </a:avLst>
          </a:prstGeom>
          <a:solidFill>
            <a:srgbClr val="FCECEC"/>
          </a:solidFill>
          <a:ln w="0">
            <a:solidFill>
              <a:srgbClr val="FC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925478-E85B-4AB8-8066-EB4BA527D54E}"/>
              </a:ext>
            </a:extLst>
          </p:cNvPr>
          <p:cNvSpPr>
            <a:spLocks noGrp="1"/>
          </p:cNvSpPr>
          <p:nvPr/>
        </p:nvSpPr>
        <p:spPr>
          <a:xfrm>
            <a:off x="8039100" y="38671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 i="0">
                <a:solidFill>
                  <a:srgbClr val="C94C4C"/>
                </a:solidFill>
              </a:defRPr>
            </a:pPr>
            <a:r>
              <a:rPr sz="2400" b="1" i="0">
                <a:solidFill>
                  <a:srgbClr val="C94C4C"/>
                </a:solidFill>
              </a:rPr>
              <a:t>1.01×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062585-0354-46C4-A36D-EA101F824136}"/>
              </a:ext>
            </a:extLst>
          </p:cNvPr>
          <p:cNvSpPr>
            <a:spLocks noGrp="1"/>
          </p:cNvSpPr>
          <p:nvPr/>
        </p:nvSpPr>
        <p:spPr>
          <a:xfrm>
            <a:off x="9525000" y="3867150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Orders ≈ users:</a:t>
            </a:r>
          </a:p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repeat volume is low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47C3BE-14ED-4991-96F4-07174AB26E70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96600" cy="781050"/>
          </a:xfrm>
          <a:prstGeom prst="roundRect">
            <a:avLst>
              <a:gd name="adj" fmla="val 14634"/>
            </a:avLst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473561-55E8-481C-B346-21EDFF2A00C2}"/>
              </a:ext>
            </a:extLst>
          </p:cNvPr>
          <p:cNvSpPr>
            <a:spLocks noGrp="1"/>
          </p:cNvSpPr>
          <p:nvPr/>
        </p:nvSpPr>
        <p:spPr>
          <a:xfrm>
            <a:off x="933450" y="54578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E887B6"/>
                </a:solidFill>
              </a:defRPr>
            </a:pPr>
            <a:r>
              <a:rPr sz="1200" b="1" i="0">
                <a:solidFill>
                  <a:srgbClr val="E887B6"/>
                </a:solidFill>
              </a:rPr>
              <a:t>Diagnosis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BBCBF1-17BA-4010-9E6C-4916C77373BB}"/>
              </a:ext>
            </a:extLst>
          </p:cNvPr>
          <p:cNvSpPr>
            <a:spLocks noGrp="1"/>
          </p:cNvSpPr>
          <p:nvPr/>
        </p:nvSpPr>
        <p:spPr>
          <a:xfrm>
            <a:off x="2152650" y="5410200"/>
            <a:ext cx="906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 dirty="0">
                <a:solidFill>
                  <a:srgbClr val="FFFFFF"/>
                </a:solidFill>
              </a:rPr>
              <a:t>GMV is growing, but repeat usage is the clearest confirmed constraint; campaign causes remain unproven.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4EF23F-5754-4BD9-B171-FCF7EAD8474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C64C02-BB67-4AE1-873A-3DD4DA54840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49581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DE90EE-D9A3-4F59-8E3A-A3B63B5AD96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POWER BI REPORT • BUSINESS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6AEA6-CE83-4656-ABDE-8497821AEF6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Higher AOV lifted September; repeat usage stayed near 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592A5-3F95-4D6C-A359-85C4E55881E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9DE28-6408-4ECE-A14E-375B98F75F21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21A3D2-2A41-4195-BE2E-8446677F89F3}"/>
              </a:ext>
            </a:extLst>
          </p:cNvPr>
          <p:cNvSpPr>
            <a:spLocks noGrp="1"/>
          </p:cNvSpPr>
          <p:nvPr/>
        </p:nvSpPr>
        <p:spPr>
          <a:xfrm>
            <a:off x="552450" y="1447800"/>
            <a:ext cx="7924800" cy="44577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781" y="1504950"/>
            <a:ext cx="7806138" cy="4343400"/>
          </a:xfrm>
          <a:prstGeom prst="roundRect">
            <a:avLst>
              <a:gd name="adj" fmla="val 1754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24C2E7-5B54-427D-87CA-7E8BCA3D373E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 i="0">
                <a:solidFill>
                  <a:srgbClr val="2D232A"/>
                </a:solidFill>
              </a:defRPr>
            </a:pPr>
            <a:r>
              <a:rPr sz="1575" b="1" i="0">
                <a:solidFill>
                  <a:srgbClr val="2D232A"/>
                </a:solidFill>
              </a:rPr>
              <a:t>Why performance moved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11F34A-B953-495A-9C5B-F94754DC48A1}"/>
              </a:ext>
            </a:extLst>
          </p:cNvPr>
          <p:cNvSpPr>
            <a:spLocks noGrp="1"/>
          </p:cNvSpPr>
          <p:nvPr/>
        </p:nvSpPr>
        <p:spPr>
          <a:xfrm>
            <a:off x="8858250" y="1981200"/>
            <a:ext cx="857250" cy="28575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AC9DA-1CB5-498A-82DD-B31B6CD48DBF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03D69C-C040-4404-A320-3337A95B2A18}"/>
              </a:ext>
            </a:extLst>
          </p:cNvPr>
          <p:cNvSpPr>
            <a:spLocks noGrp="1"/>
          </p:cNvSpPr>
          <p:nvPr/>
        </p:nvSpPr>
        <p:spPr>
          <a:xfrm>
            <a:off x="9334500" y="2276475"/>
            <a:ext cx="2247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The year's highest AOV confirms transaction value helped create September's GMV peak.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335022-8AE4-40FF-996E-F6E484CAE2AF}"/>
              </a:ext>
            </a:extLst>
          </p:cNvPr>
          <p:cNvSpPr>
            <a:spLocks noGrp="1"/>
          </p:cNvSpPr>
          <p:nvPr/>
        </p:nvSpPr>
        <p:spPr>
          <a:xfrm>
            <a:off x="8858250" y="3238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93854-A615-4097-890F-1ACAB18DC020}"/>
              </a:ext>
            </a:extLst>
          </p:cNvPr>
          <p:cNvSpPr>
            <a:spLocks noGrp="1"/>
          </p:cNvSpPr>
          <p:nvPr/>
        </p:nvSpPr>
        <p:spPr>
          <a:xfrm>
            <a:off x="9334500" y="3209925"/>
            <a:ext cx="2247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Purchase-for-others generated 36.4% of GMV because its AOV was 2.9× self-use.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F81E2D-2841-4B59-8698-51882B898CA4}"/>
              </a:ext>
            </a:extLst>
          </p:cNvPr>
          <p:cNvSpPr>
            <a:spLocks noGrp="1"/>
          </p:cNvSpPr>
          <p:nvPr/>
        </p:nvSpPr>
        <p:spPr>
          <a:xfrm>
            <a:off x="8858250" y="4171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46E5A-A018-4543-8A2B-D8EEFEDB5048}"/>
              </a:ext>
            </a:extLst>
          </p:cNvPr>
          <p:cNvSpPr>
            <a:spLocks noGrp="1"/>
          </p:cNvSpPr>
          <p:nvPr/>
        </p:nvSpPr>
        <p:spPr>
          <a:xfrm>
            <a:off x="9334500" y="4143375"/>
            <a:ext cx="2247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13,496 orders from 13,391 users confirm limited repeat volume at portfolio level.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8FC1A1-DB6D-47F7-89F1-57D0514A95DD}"/>
              </a:ext>
            </a:extLst>
          </p:cNvPr>
          <p:cNvSpPr>
            <a:spLocks noGrp="1"/>
          </p:cNvSpPr>
          <p:nvPr/>
        </p:nvSpPr>
        <p:spPr>
          <a:xfrm>
            <a:off x="8763000" y="5343525"/>
            <a:ext cx="2819400" cy="628650"/>
          </a:xfrm>
          <a:prstGeom prst="roundRect">
            <a:avLst>
              <a:gd name="adj" fmla="val 12121"/>
            </a:avLst>
          </a:prstGeom>
          <a:solidFill>
            <a:srgbClr val="FBEFF5"/>
          </a:solidFill>
          <a:ln w="0">
            <a:solidFill>
              <a:srgbClr val="FB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206FE-BA16-4F8B-8F44-51E82B055B87}"/>
              </a:ext>
            </a:extLst>
          </p:cNvPr>
          <p:cNvSpPr>
            <a:spLocks noGrp="1"/>
          </p:cNvSpPr>
          <p:nvPr/>
        </p:nvSpPr>
        <p:spPr>
          <a:xfrm>
            <a:off x="8953500" y="53911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 i="0">
                <a:solidFill>
                  <a:srgbClr val="8E174F"/>
                </a:solidFill>
              </a:defRPr>
            </a:pPr>
            <a:r>
              <a:rPr sz="1350" b="1" i="0" dirty="0">
                <a:solidFill>
                  <a:srgbClr val="8E174F"/>
                </a:solidFill>
              </a:rPr>
              <a:t>Priority: second </a:t>
            </a:r>
            <a:r>
              <a:rPr sz="1350" b="1" i="0" dirty="0" err="1">
                <a:solidFill>
                  <a:srgbClr val="8E174F"/>
                </a:solidFill>
              </a:rPr>
              <a:t>Topup</a:t>
            </a:r>
            <a:r>
              <a:rPr sz="1350" b="1" i="0" dirty="0">
                <a:solidFill>
                  <a:srgbClr val="8E174F"/>
                </a:solidFill>
              </a:rPr>
              <a:t> within 30 days.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91785E-D89A-45ED-A708-0944B1D4F91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352828-C81B-414C-8904-3DA52D8351D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89986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F00EFB7-4134-413D-AF59-3E30ED35E8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POWER BI REPORT • MERCHANT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0B9F8-83B3-4823-8160-2E23E4C35A7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Commission rates—not GMV share—explain merchant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637FB-F836-4DDC-8753-70E13A5E82A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9AFDFF-D369-4E88-B07B-2BB9928937AD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09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583BD1-170F-4602-B65E-BA8AA60552EC}"/>
              </a:ext>
            </a:extLst>
          </p:cNvPr>
          <p:cNvSpPr>
            <a:spLocks noGrp="1"/>
          </p:cNvSpPr>
          <p:nvPr/>
        </p:nvSpPr>
        <p:spPr>
          <a:xfrm>
            <a:off x="552450" y="1447800"/>
            <a:ext cx="7162800" cy="48577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07642"/>
            <a:ext cx="7048500" cy="4738065"/>
          </a:xfrm>
          <a:prstGeom prst="roundRect">
            <a:avLst>
              <a:gd name="adj" fmla="val 1606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44D44C-3E45-421B-B130-1A9B83876BCE}"/>
              </a:ext>
            </a:extLst>
          </p:cNvPr>
          <p:cNvSpPr>
            <a:spLocks noGrp="1"/>
          </p:cNvSpPr>
          <p:nvPr/>
        </p:nvSpPr>
        <p:spPr>
          <a:xfrm>
            <a:off x="8020050" y="1562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 i="0">
                <a:solidFill>
                  <a:srgbClr val="2D232A"/>
                </a:solidFill>
              </a:defRPr>
            </a:pPr>
            <a:r>
              <a:rPr sz="1575" b="1" i="0">
                <a:solidFill>
                  <a:srgbClr val="2D232A"/>
                </a:solidFill>
              </a:rPr>
              <a:t>Contribution reflects margin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7905750" y="1962150"/>
          <a:ext cx="367665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6CAEF3E-5A2B-4E34-A3E5-1B9CB819E26C}"/>
              </a:ext>
            </a:extLst>
          </p:cNvPr>
          <p:cNvSpPr>
            <a:spLocks noGrp="1"/>
          </p:cNvSpPr>
          <p:nvPr/>
        </p:nvSpPr>
        <p:spPr>
          <a:xfrm>
            <a:off x="8058150" y="4171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 i="0">
                <a:solidFill>
                  <a:srgbClr val="746E76"/>
                </a:solidFill>
              </a:defRPr>
            </a:pPr>
            <a:r>
              <a:rPr sz="975" b="0" i="0">
                <a:solidFill>
                  <a:srgbClr val="746E76"/>
                </a:solidFill>
              </a:rPr>
              <a:t>VND millions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359481-CB00-49FE-8AB8-4CFD59E1837B}"/>
              </a:ext>
            </a:extLst>
          </p:cNvPr>
          <p:cNvSpPr>
            <a:spLocks noGrp="1"/>
          </p:cNvSpPr>
          <p:nvPr/>
        </p:nvSpPr>
        <p:spPr>
          <a:xfrm>
            <a:off x="7981950" y="45815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A21C63"/>
                </a:solidFill>
              </a:defRPr>
            </a:pPr>
            <a:r>
              <a:rPr sz="1425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4418D0-8700-476F-9661-EF85E0BB315D}"/>
              </a:ext>
            </a:extLst>
          </p:cNvPr>
          <p:cNvSpPr>
            <a:spLocks noGrp="1"/>
          </p:cNvSpPr>
          <p:nvPr/>
        </p:nvSpPr>
        <p:spPr>
          <a:xfrm>
            <a:off x="8210550" y="4591050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2D232A"/>
                </a:solidFill>
              </a:defRPr>
            </a:pPr>
            <a:r>
              <a:rPr sz="1275" b="0" i="0">
                <a:solidFill>
                  <a:srgbClr val="2D232A"/>
                </a:solidFill>
              </a:rPr>
              <a:t>Viettel: 51.6% of GMV but only 38.4% of revenue because commission is 2%.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65BAC3-11B9-4751-A6E0-8711FC9000F8}"/>
              </a:ext>
            </a:extLst>
          </p:cNvPr>
          <p:cNvSpPr>
            <a:spLocks noGrp="1"/>
          </p:cNvSpPr>
          <p:nvPr/>
        </p:nvSpPr>
        <p:spPr>
          <a:xfrm>
            <a:off x="7981950" y="5286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A21C63"/>
                </a:solidFill>
              </a:defRPr>
            </a:pPr>
            <a:r>
              <a:rPr sz="1425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0C44BA-0641-46EC-A19F-15AD4D47321E}"/>
              </a:ext>
            </a:extLst>
          </p:cNvPr>
          <p:cNvSpPr>
            <a:spLocks noGrp="1"/>
          </p:cNvSpPr>
          <p:nvPr/>
        </p:nvSpPr>
        <p:spPr>
          <a:xfrm>
            <a:off x="8210550" y="5295900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2D232A"/>
                </a:solidFill>
              </a:defRPr>
            </a:pPr>
            <a:r>
              <a:rPr sz="1275" b="0" i="0">
                <a:solidFill>
                  <a:srgbClr val="2D232A"/>
                </a:solidFill>
              </a:rPr>
              <a:t>Mobifone leads contribution at 3.84M VND with an effective margin near 2%.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D4BC74-55B9-4106-8466-EA93A2EFF0C4}"/>
              </a:ext>
            </a:extLst>
          </p:cNvPr>
          <p:cNvSpPr>
            <a:spLocks noGrp="1"/>
          </p:cNvSpPr>
          <p:nvPr/>
        </p:nvSpPr>
        <p:spPr>
          <a:xfrm>
            <a:off x="7981950" y="58578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A21C63"/>
                </a:solidFill>
              </a:defRPr>
            </a:pPr>
            <a:r>
              <a:rPr sz="1425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AF3E7C-DE96-45A9-A2CC-DFCCD1301CD8}"/>
              </a:ext>
            </a:extLst>
          </p:cNvPr>
          <p:cNvSpPr>
            <a:spLocks noGrp="1"/>
          </p:cNvSpPr>
          <p:nvPr/>
        </p:nvSpPr>
        <p:spPr>
          <a:xfrm>
            <a:off x="8210550" y="5867400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2D232A"/>
                </a:solidFill>
              </a:defRPr>
            </a:pPr>
            <a:r>
              <a:rPr sz="1275" b="0" i="0">
                <a:solidFill>
                  <a:srgbClr val="2D232A"/>
                </a:solidFill>
              </a:rPr>
              <a:t>Vinaphone over-indexes on revenue because its commission rate is 4%.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F212B5-6E5B-4206-9027-96B1FC0F977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7A97B7-9849-4977-882F-48B159739F7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14520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1FC4897-D220-4C96-8E84-07A65F7C54C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POWER BI REPORT • CUSTOMER INSIGHT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CF5E2-D6D9-45A7-AE2E-060EE60E05F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Acquisition faded; customer scale and value diverged by 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17EADD-E5AA-4E3D-968A-161A9B4D42C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37510-9326-4AFE-92C1-F855208A7624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78EF29-760E-489D-AD7F-450A1B00062E}"/>
              </a:ext>
            </a:extLst>
          </p:cNvPr>
          <p:cNvSpPr>
            <a:spLocks noGrp="1"/>
          </p:cNvSpPr>
          <p:nvPr/>
        </p:nvSpPr>
        <p:spPr>
          <a:xfrm>
            <a:off x="552450" y="1447800"/>
            <a:ext cx="7581900" cy="48577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0661" y="1504950"/>
            <a:ext cx="7465478" cy="4743450"/>
          </a:xfrm>
          <a:prstGeom prst="roundRect">
            <a:avLst>
              <a:gd name="adj" fmla="val 1606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1683E2-4229-478A-B94F-22704E641122}"/>
              </a:ext>
            </a:extLst>
          </p:cNvPr>
          <p:cNvSpPr>
            <a:spLocks noGrp="1"/>
          </p:cNvSpPr>
          <p:nvPr/>
        </p:nvSpPr>
        <p:spPr>
          <a:xfrm>
            <a:off x="8534400" y="1581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 i="0">
                <a:solidFill>
                  <a:srgbClr val="A21C63"/>
                </a:solidFill>
              </a:defRPr>
            </a:pPr>
            <a:r>
              <a:rPr sz="3300" b="1" i="0">
                <a:solidFill>
                  <a:srgbClr val="A21C63"/>
                </a:solidFill>
              </a:rPr>
              <a:t>13.39K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1B2187-43F5-4068-BB73-C845E1600B44}"/>
              </a:ext>
            </a:extLst>
          </p:cNvPr>
          <p:cNvSpPr>
            <a:spLocks noGrp="1"/>
          </p:cNvSpPr>
          <p:nvPr/>
        </p:nvSpPr>
        <p:spPr>
          <a:xfrm>
            <a:off x="8553450" y="2076450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total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28FDE-58A2-4A31-8E98-7837D96313FE}"/>
              </a:ext>
            </a:extLst>
          </p:cNvPr>
          <p:cNvSpPr>
            <a:spLocks noGrp="1"/>
          </p:cNvSpPr>
          <p:nvPr/>
        </p:nvSpPr>
        <p:spPr>
          <a:xfrm>
            <a:off x="8534400" y="2590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 i="0">
                <a:solidFill>
                  <a:srgbClr val="C94C4C"/>
                </a:solidFill>
              </a:defRPr>
            </a:pPr>
            <a:r>
              <a:rPr sz="3300" b="1" i="0">
                <a:solidFill>
                  <a:srgbClr val="C94C4C"/>
                </a:solidFill>
              </a:rPr>
              <a:t>7.37%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57B87-9AEE-4EB7-BED7-B55F3726386C}"/>
              </a:ext>
            </a:extLst>
          </p:cNvPr>
          <p:cNvSpPr>
            <a:spLocks noGrp="1"/>
          </p:cNvSpPr>
          <p:nvPr/>
        </p:nvSpPr>
        <p:spPr>
          <a:xfrm>
            <a:off x="8553450" y="3086100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 i="0">
                <a:solidFill>
                  <a:srgbClr val="2D232A"/>
                </a:solidFill>
              </a:defRPr>
            </a:pPr>
            <a:r>
              <a:rPr sz="1275" b="1" i="0">
                <a:solidFill>
                  <a:srgbClr val="2D232A"/>
                </a:solidFill>
              </a:rPr>
              <a:t>new-user 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E978A7-7A74-4EB2-A32C-834BF2DD8C91}"/>
              </a:ext>
            </a:extLst>
          </p:cNvPr>
          <p:cNvSpPr>
            <a:spLocks noGrp="1"/>
          </p:cNvSpPr>
          <p:nvPr/>
        </p:nvSpPr>
        <p:spPr>
          <a:xfrm>
            <a:off x="8534400" y="3543300"/>
            <a:ext cx="24765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E7AC9-5ED7-4144-A228-1B1A7868A6F5}"/>
              </a:ext>
            </a:extLst>
          </p:cNvPr>
          <p:cNvSpPr>
            <a:spLocks noGrp="1"/>
          </p:cNvSpPr>
          <p:nvPr/>
        </p:nvSpPr>
        <p:spPr>
          <a:xfrm>
            <a:off x="8534400" y="37909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 i="0">
                <a:solidFill>
                  <a:srgbClr val="C94C4C"/>
                </a:solidFill>
              </a:defRPr>
            </a:pPr>
            <a:r>
              <a:rPr sz="1575" b="1" i="0">
                <a:solidFill>
                  <a:srgbClr val="C94C4C"/>
                </a:solidFill>
              </a:rPr>
              <a:t>What is confirmed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A76A0-07CF-4669-93E0-71F433DECF69}"/>
              </a:ext>
            </a:extLst>
          </p:cNvPr>
          <p:cNvSpPr>
            <a:spLocks noGrp="1"/>
          </p:cNvSpPr>
          <p:nvPr/>
        </p:nvSpPr>
        <p:spPr>
          <a:xfrm>
            <a:off x="8534400" y="41719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New users fell 113 → 76. Campaign and channel causes are not observable in this dataset.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933E3-A892-47A4-90BB-004298641CD0}"/>
              </a:ext>
            </a:extLst>
          </p:cNvPr>
          <p:cNvSpPr>
            <a:spLocks noGrp="1"/>
          </p:cNvSpPr>
          <p:nvPr/>
        </p:nvSpPr>
        <p:spPr>
          <a:xfrm>
            <a:off x="8534400" y="5067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 i="0">
                <a:solidFill>
                  <a:srgbClr val="2F8F6B"/>
                </a:solidFill>
              </a:defRPr>
            </a:pPr>
            <a:r>
              <a:rPr sz="1575" b="1" i="0">
                <a:solidFill>
                  <a:srgbClr val="2F8F6B"/>
                </a:solidFill>
              </a:rPr>
              <a:t>Who creates 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7FAE84-9AF0-4B18-9E54-B76DDAA32B58}"/>
              </a:ext>
            </a:extLst>
          </p:cNvPr>
          <p:cNvSpPr>
            <a:spLocks noGrp="1"/>
          </p:cNvSpPr>
          <p:nvPr/>
        </p:nvSpPr>
        <p:spPr>
          <a:xfrm>
            <a:off x="8534400" y="54483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Ages 23–27 lead through scale; users over 37 lead on Gross ARPU. They need different offers.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7523C8-3DE9-43E6-87F6-2BBFECA752B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C2079C-9493-4C61-8641-247A371AD3A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28344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38E695-AB94-4436-AAEC-FC1D8514743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CASHBACK ECONOMICS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82A84-5AD8-4244-880F-0D2B25C8CB3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Margin compression removes 79.5% of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2B1EF9-2DCA-4E27-9B14-0DCBCB73168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A7F83-46AF-4A05-8C59-C9D41A7246F2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A3D98-E872-48CF-8EAF-904A0525A6FC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746E76"/>
                </a:solidFill>
              </a:defRPr>
            </a:pPr>
            <a:r>
              <a:rPr sz="1125" b="1" i="0">
                <a:solidFill>
                  <a:srgbClr val="746E76"/>
                </a:solidFill>
              </a:rPr>
              <a:t>CURRENT POLICY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155205-4825-4A7F-AAA5-A20062782862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350" b="1" i="0">
                <a:solidFill>
                  <a:srgbClr val="2D232A"/>
                </a:solidFill>
              </a:defRPr>
            </a:pPr>
            <a:r>
              <a:rPr sz="4350" b="1" i="0">
                <a:solidFill>
                  <a:srgbClr val="2D232A"/>
                </a:solidFill>
              </a:rPr>
              <a:t>11.79M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EE670-3061-40EE-BF54-2786854FC9C4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 i="0">
                <a:solidFill>
                  <a:srgbClr val="2D232A"/>
                </a:solidFill>
              </a:defRPr>
            </a:pPr>
            <a:r>
              <a:rPr sz="1425" b="1" i="0">
                <a:solidFill>
                  <a:srgbClr val="2D232A"/>
                </a:solidFill>
              </a:rPr>
              <a:t>Current contribution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B54531-52D3-4489-BA51-3D60B664BD5A}"/>
              </a:ext>
            </a:extLst>
          </p:cNvPr>
          <p:cNvSpPr>
            <a:spLocks noGrp="1"/>
          </p:cNvSpPr>
          <p:nvPr/>
        </p:nvSpPr>
        <p:spPr>
          <a:xfrm>
            <a:off x="3543300" y="2286000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 i="0">
                <a:solidFill>
                  <a:srgbClr val="746E76"/>
                </a:solidFill>
              </a:defRPr>
            </a:pPr>
            <a:r>
              <a:rPr sz="3600" b="1" i="0">
                <a:solidFill>
                  <a:srgbClr val="746E76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40AEF1-2086-4D8D-B897-BEBB48B52FA8}"/>
              </a:ext>
            </a:extLst>
          </p:cNvPr>
          <p:cNvSpPr>
            <a:spLocks noGrp="1"/>
          </p:cNvSpPr>
          <p:nvPr/>
        </p:nvSpPr>
        <p:spPr>
          <a:xfrm>
            <a:off x="4743450" y="1771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746E76"/>
                </a:solidFill>
              </a:defRPr>
            </a:pPr>
            <a:r>
              <a:rPr sz="1125" b="1" i="0">
                <a:solidFill>
                  <a:srgbClr val="746E76"/>
                </a:solidFill>
              </a:rPr>
              <a:t>PROPOSED 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75676-9794-46F3-BC86-CA289BEBD300}"/>
              </a:ext>
            </a:extLst>
          </p:cNvPr>
          <p:cNvSpPr>
            <a:spLocks noGrp="1"/>
          </p:cNvSpPr>
          <p:nvPr/>
        </p:nvSpPr>
        <p:spPr>
          <a:xfrm>
            <a:off x="4648200" y="2190750"/>
            <a:ext cx="257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350" b="1" i="0">
                <a:solidFill>
                  <a:srgbClr val="C94C4C"/>
                </a:solidFill>
              </a:defRPr>
            </a:pPr>
            <a:r>
              <a:rPr sz="4350" b="1" i="0">
                <a:solidFill>
                  <a:srgbClr val="C94C4C"/>
                </a:solidFill>
              </a:rPr>
              <a:t>2.41M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D621A-8950-40FE-A258-10406FFF2CC2}"/>
              </a:ext>
            </a:extLst>
          </p:cNvPr>
          <p:cNvSpPr>
            <a:spLocks noGrp="1"/>
          </p:cNvSpPr>
          <p:nvPr/>
        </p:nvSpPr>
        <p:spPr>
          <a:xfrm>
            <a:off x="4743450" y="29051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 i="0">
                <a:solidFill>
                  <a:srgbClr val="2D232A"/>
                </a:solidFill>
              </a:defRPr>
            </a:pPr>
            <a:r>
              <a:rPr sz="1425" b="1" i="0">
                <a:solidFill>
                  <a:srgbClr val="2D232A"/>
                </a:solidFill>
              </a:rPr>
              <a:t>Contribution at 0% uplift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1DB6F-604F-4CC3-BBBD-47E9C8E724AB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 i="0">
                <a:solidFill>
                  <a:srgbClr val="746E76"/>
                </a:solidFill>
              </a:defRPr>
            </a:pPr>
            <a:r>
              <a:rPr sz="3600" b="1" i="0">
                <a:solidFill>
                  <a:srgbClr val="746E76"/>
                </a:solidFill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BC1FDC-0406-4294-A892-E81FC5FEA64E}"/>
              </a:ext>
            </a:extLst>
          </p:cNvPr>
          <p:cNvSpPr>
            <a:spLocks noGrp="1"/>
          </p:cNvSpPr>
          <p:nvPr/>
        </p:nvSpPr>
        <p:spPr>
          <a:xfrm>
            <a:off x="8572500" y="17716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746E76"/>
                </a:solidFill>
              </a:defRPr>
            </a:pPr>
            <a:r>
              <a:rPr sz="1125" b="1" i="0">
                <a:solidFill>
                  <a:srgbClr val="746E76"/>
                </a:solidFill>
              </a:rPr>
              <a:t>BREAK-EVEN REQUIREMENT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CDF99C-8B15-4A12-B239-F3755EAB4ABD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350" b="1" i="0">
                <a:solidFill>
                  <a:srgbClr val="C1842F"/>
                </a:solidFill>
              </a:defRPr>
            </a:pPr>
            <a:r>
              <a:rPr sz="4350" b="1" i="0">
                <a:solidFill>
                  <a:srgbClr val="C1842F"/>
                </a:solidFill>
              </a:rPr>
              <a:t>~389%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A2026F-D881-4ED9-B8C3-23DDB34EC8BD}"/>
              </a:ext>
            </a:extLst>
          </p:cNvPr>
          <p:cNvSpPr>
            <a:spLocks noGrp="1"/>
          </p:cNvSpPr>
          <p:nvPr/>
        </p:nvSpPr>
        <p:spPr>
          <a:xfrm>
            <a:off x="8705850" y="2905125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 i="0">
                <a:solidFill>
                  <a:srgbClr val="2D232A"/>
                </a:solidFill>
              </a:defRPr>
            </a:pPr>
            <a:r>
              <a:rPr sz="1425" b="1" i="0">
                <a:solidFill>
                  <a:srgbClr val="2D232A"/>
                </a:solidFill>
              </a:rPr>
              <a:t>Overall GMV lift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AD7227-64D9-49FF-BB5D-11841F452710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CECEC"/>
          </a:solidFill>
          <a:ln w="0">
            <a:solidFill>
              <a:srgbClr val="FC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FFF5D-0F06-4135-8379-2632FC506044}"/>
              </a:ext>
            </a:extLst>
          </p:cNvPr>
          <p:cNvSpPr>
            <a:spLocks noGrp="1"/>
          </p:cNvSpPr>
          <p:nvPr/>
        </p:nvSpPr>
        <p:spPr>
          <a:xfrm>
            <a:off x="990600" y="39433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C94C4C"/>
                </a:solidFill>
              </a:defRPr>
            </a:pPr>
            <a:r>
              <a:rPr sz="1350" b="1" i="0">
                <a:solidFill>
                  <a:srgbClr val="C94C4C"/>
                </a:solidFill>
              </a:rPr>
              <a:t>Contribution gap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129A0-25A4-4D0A-A178-D9BF55A94B02}"/>
              </a:ext>
            </a:extLst>
          </p:cNvPr>
          <p:cNvSpPr>
            <a:spLocks noGrp="1"/>
          </p:cNvSpPr>
          <p:nvPr/>
        </p:nvSpPr>
        <p:spPr>
          <a:xfrm>
            <a:off x="990600" y="42481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 i="0">
                <a:solidFill>
                  <a:srgbClr val="C94C4C"/>
                </a:solidFill>
              </a:defRPr>
            </a:pPr>
            <a:r>
              <a:rPr sz="2250" b="1" i="0">
                <a:solidFill>
                  <a:srgbClr val="C94C4C"/>
                </a:solidFill>
              </a:rPr>
              <a:t>−9.38M VND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2E8478-FD17-454C-9308-8EA1629D2706}"/>
              </a:ext>
            </a:extLst>
          </p:cNvPr>
          <p:cNvSpPr>
            <a:spLocks noGrp="1"/>
          </p:cNvSpPr>
          <p:nvPr/>
        </p:nvSpPr>
        <p:spPr>
          <a:xfrm>
            <a:off x="4057650" y="4010025"/>
            <a:ext cx="6991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Cashback cost rises immediately; the GMV needed to recover lost margin is only an assumption.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AC91B9-E601-47BF-ACCF-66853A5280E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857250"/>
          </a:xfrm>
          <a:prstGeom prst="roundRect">
            <a:avLst>
              <a:gd name="adj" fmla="val 13333"/>
            </a:avLst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CDFC2D-21A3-4224-BF40-377F768A3EB3}"/>
              </a:ext>
            </a:extLst>
          </p:cNvPr>
          <p:cNvSpPr>
            <a:spLocks noGrp="1"/>
          </p:cNvSpPr>
          <p:nvPr/>
        </p:nvSpPr>
        <p:spPr>
          <a:xfrm>
            <a:off x="952500" y="53149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E887B6"/>
                </a:solidFill>
              </a:defRPr>
            </a:pPr>
            <a:r>
              <a:rPr sz="1200" b="1" i="0">
                <a:solidFill>
                  <a:srgbClr val="E887B6"/>
                </a:solidFill>
              </a:rPr>
              <a:t>Decision rule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BB0F99-9DCD-4629-8903-B91E6C7A6C31}"/>
              </a:ext>
            </a:extLst>
          </p:cNvPr>
          <p:cNvSpPr>
            <a:spLocks noGrp="1"/>
          </p:cNvSpPr>
          <p:nvPr/>
        </p:nvSpPr>
        <p:spPr>
          <a:xfrm>
            <a:off x="2571750" y="5257800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Approve growth only when incremental revenue exceeds incremental cashback cost.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AD69F9-4634-4042-9C67-A476343C80E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EA07AB-8453-4C6D-90E8-456EA1CAE22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94002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AB25BFE-A473-43FE-9B3C-9AACD65AB91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MERCHANT RISK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0F5EAC-6F14-44AB-ADC2-37DDFA176D7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Viettel makes blanket break-even structurally impossible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BA517-243A-40D9-A141-8B4542B54E5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179EE-F370-4AF6-B843-72D07C61845D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12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685800" y="2076450"/>
          <a:ext cx="67627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C770B0-ED08-419B-B10A-BB424CD75D77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Required GMV lift to preserve current contribution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70200B-AAB5-4888-B5A4-DE792A56795E}"/>
              </a:ext>
            </a:extLst>
          </p:cNvPr>
          <p:cNvSpPr>
            <a:spLocks noGrp="1"/>
          </p:cNvSpPr>
          <p:nvPr/>
        </p:nvSpPr>
        <p:spPr>
          <a:xfrm>
            <a:off x="7905750" y="1695450"/>
            <a:ext cx="3676650" cy="1257300"/>
          </a:xfrm>
          <a:prstGeom prst="roundRect">
            <a:avLst>
              <a:gd name="adj" fmla="val 9091"/>
            </a:avLst>
          </a:prstGeom>
          <a:solidFill>
            <a:srgbClr val="FCECEC"/>
          </a:solidFill>
          <a:ln w="0">
            <a:solidFill>
              <a:srgbClr val="FC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C9368-EBFA-40B1-9773-44DDA32394B7}"/>
              </a:ext>
            </a:extLst>
          </p:cNvPr>
          <p:cNvSpPr>
            <a:spLocks noGrp="1"/>
          </p:cNvSpPr>
          <p:nvPr/>
        </p:nvSpPr>
        <p:spPr>
          <a:xfrm>
            <a:off x="8172450" y="19050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C94C4C"/>
                </a:solidFill>
              </a:defRPr>
            </a:pPr>
            <a:r>
              <a:rPr sz="1200" b="1" i="0">
                <a:solidFill>
                  <a:srgbClr val="C94C4C"/>
                </a:solidFill>
              </a:rPr>
              <a:t>VIETTEL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7BB6EF-AFF6-4D15-BEB3-E08AC1D068D1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 i="0">
                <a:solidFill>
                  <a:srgbClr val="C94C4C"/>
                </a:solidFill>
              </a:defRPr>
            </a:pPr>
            <a:r>
              <a:rPr sz="2025" b="1" i="0">
                <a:solidFill>
                  <a:srgbClr val="C94C4C"/>
                </a:solidFill>
              </a:rPr>
              <a:t>Break-even impossible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424389-0736-4119-AF0A-DE5F089BA801}"/>
              </a:ext>
            </a:extLst>
          </p:cNvPr>
          <p:cNvSpPr>
            <a:spLocks noGrp="1"/>
          </p:cNvSpPr>
          <p:nvPr/>
        </p:nvSpPr>
        <p:spPr>
          <a:xfrm>
            <a:off x="7905750" y="2657476"/>
            <a:ext cx="3867150" cy="3143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 i="0">
                <a:solidFill>
                  <a:srgbClr val="514C54"/>
                </a:solidFill>
              </a:defRPr>
            </a:pPr>
            <a:r>
              <a:rPr sz="1200" b="0" i="0" dirty="0">
                <a:solidFill>
                  <a:srgbClr val="514C54"/>
                </a:solidFill>
              </a:rPr>
              <a:t>2% commission − 2% cashback = 0% contribution margin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CF759F-9442-433F-8AFC-FA01804E2CD6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 i="0">
                <a:solidFill>
                  <a:srgbClr val="2D232A"/>
                </a:solidFill>
              </a:defRPr>
            </a:pPr>
            <a:r>
              <a:rPr sz="1725" b="1" i="0">
                <a:solidFill>
                  <a:srgbClr val="2D232A"/>
                </a:solidFill>
              </a:rPr>
              <a:t>Why portfolio break-even rises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9AC09-B210-4C00-B0CA-0FC73A6B87FE}"/>
              </a:ext>
            </a:extLst>
          </p:cNvPr>
          <p:cNvSpPr>
            <a:spLocks noGrp="1"/>
          </p:cNvSpPr>
          <p:nvPr/>
        </p:nvSpPr>
        <p:spPr>
          <a:xfrm>
            <a:off x="7905750" y="38385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94E47B-2DF5-46B7-AADE-4B674C95763B}"/>
              </a:ext>
            </a:extLst>
          </p:cNvPr>
          <p:cNvSpPr>
            <a:spLocks noGrp="1"/>
          </p:cNvSpPr>
          <p:nvPr/>
        </p:nvSpPr>
        <p:spPr>
          <a:xfrm>
            <a:off x="8134350" y="38481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Viettel is over half of GMV but retains zero margin.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1CE546-3DAE-4134-A300-FEA572182E90}"/>
              </a:ext>
            </a:extLst>
          </p:cNvPr>
          <p:cNvSpPr>
            <a:spLocks noGrp="1"/>
          </p:cNvSpPr>
          <p:nvPr/>
        </p:nvSpPr>
        <p:spPr>
          <a:xfrm>
            <a:off x="7905750" y="44100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7F9271-B369-421F-A8D3-C268AA72FFD0}"/>
              </a:ext>
            </a:extLst>
          </p:cNvPr>
          <p:cNvSpPr>
            <a:spLocks noGrp="1"/>
          </p:cNvSpPr>
          <p:nvPr/>
        </p:nvSpPr>
        <p:spPr>
          <a:xfrm>
            <a:off x="8134350" y="44196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Other merchants must recover their own compressed margins.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891021-970C-435E-B1FE-757FD4F7C69D}"/>
              </a:ext>
            </a:extLst>
          </p:cNvPr>
          <p:cNvSpPr>
            <a:spLocks noGrp="1"/>
          </p:cNvSpPr>
          <p:nvPr/>
        </p:nvSpPr>
        <p:spPr>
          <a:xfrm>
            <a:off x="7905750" y="51149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A21C63"/>
                </a:solidFill>
              </a:defRPr>
            </a:pPr>
            <a:r>
              <a:rPr sz="1500" b="1" i="0">
                <a:solidFill>
                  <a:srgbClr val="A21C63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D3CE9-66AF-478E-AB64-DC5CD2C6361C}"/>
              </a:ext>
            </a:extLst>
          </p:cNvPr>
          <p:cNvSpPr>
            <a:spLocks noGrp="1"/>
          </p:cNvSpPr>
          <p:nvPr/>
        </p:nvSpPr>
        <p:spPr>
          <a:xfrm>
            <a:off x="81343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They must also replace Viettel's lost contribution.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B0E8AD-465A-42B6-972C-8D9EDDB2B0D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762750" cy="514350"/>
          </a:xfrm>
          <a:prstGeom prst="roundRect">
            <a:avLst>
              <a:gd name="adj" fmla="val 14815"/>
            </a:avLst>
          </a:prstGeom>
          <a:solidFill>
            <a:srgbClr val="FAF1DD"/>
          </a:solidFill>
          <a:ln w="0">
            <a:solidFill>
              <a:srgbClr val="FAF1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2F65CF-801E-4E10-A2B9-5C719D85BF8E}"/>
              </a:ext>
            </a:extLst>
          </p:cNvPr>
          <p:cNvSpPr>
            <a:spLocks noGrp="1"/>
          </p:cNvSpPr>
          <p:nvPr/>
        </p:nvSpPr>
        <p:spPr>
          <a:xfrm>
            <a:off x="857250" y="577215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 i="0">
                <a:solidFill>
                  <a:srgbClr val="C1842F"/>
                </a:solidFill>
              </a:defRPr>
            </a:pPr>
            <a:r>
              <a:rPr sz="1425" b="1" i="0">
                <a:solidFill>
                  <a:srgbClr val="C1842F"/>
                </a:solidFill>
              </a:rPr>
              <a:t>Mobifone needs +300%; Vinaphone and Vietnamobile need +200%.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6A8858-C419-41E6-9BC2-AD150D98F79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B4BE45-9F28-4179-A768-335E4CAB9F0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83625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573C2D5-9BEF-44C6-BD06-D7AF7850828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POWER BI REPORT • CASHBACK SCENARIO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9ED99-3886-4222-A4EF-DFD30BB126F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A 310% GMV lift still misses break-even by 16.2%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2FA48-A031-49E8-957B-817EB1AB2E9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415BD-0E97-44E8-9E9D-C1A01F455FAE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BF8969-DB63-4388-82D3-344F916474F0}"/>
              </a:ext>
            </a:extLst>
          </p:cNvPr>
          <p:cNvSpPr>
            <a:spLocks noGrp="1"/>
          </p:cNvSpPr>
          <p:nvPr/>
        </p:nvSpPr>
        <p:spPr>
          <a:xfrm>
            <a:off x="552450" y="1447800"/>
            <a:ext cx="7696200" cy="483870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E6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9434" y="1504950"/>
            <a:ext cx="6422231" cy="4724400"/>
          </a:xfrm>
          <a:prstGeom prst="roundRect">
            <a:avLst>
              <a:gd name="adj" fmla="val 1613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79C3CC-F7A0-4D4D-887F-46F626785564}"/>
              </a:ext>
            </a:extLst>
          </p:cNvPr>
          <p:cNvSpPr>
            <a:spLocks noGrp="1"/>
          </p:cNvSpPr>
          <p:nvPr/>
        </p:nvSpPr>
        <p:spPr>
          <a:xfrm>
            <a:off x="8667750" y="16002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C1842F"/>
                </a:solidFill>
              </a:defRPr>
            </a:pPr>
            <a:r>
              <a:rPr sz="3750" b="1" i="0">
                <a:solidFill>
                  <a:srgbClr val="C1842F"/>
                </a:solidFill>
              </a:rPr>
              <a:t>310%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EC829-9E92-432D-BED2-EAC1E47E7573}"/>
              </a:ext>
            </a:extLst>
          </p:cNvPr>
          <p:cNvSpPr>
            <a:spLocks noGrp="1"/>
          </p:cNvSpPr>
          <p:nvPr/>
        </p:nvSpPr>
        <p:spPr>
          <a:xfrm>
            <a:off x="8686800" y="21431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assumed GMV lift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DC961B-B68C-4B38-A4C2-71A933BC5D62}"/>
              </a:ext>
            </a:extLst>
          </p:cNvPr>
          <p:cNvSpPr>
            <a:spLocks noGrp="1"/>
          </p:cNvSpPr>
          <p:nvPr/>
        </p:nvSpPr>
        <p:spPr>
          <a:xfrm>
            <a:off x="8667750" y="27241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A21C63"/>
                </a:solidFill>
              </a:defRPr>
            </a:pPr>
            <a:r>
              <a:rPr sz="3750" b="1" i="0">
                <a:solidFill>
                  <a:srgbClr val="A21C63"/>
                </a:solidFill>
              </a:rPr>
              <a:t>9.88M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69973-D456-4E4E-9D41-79BACD4750CB}"/>
              </a:ext>
            </a:extLst>
          </p:cNvPr>
          <p:cNvSpPr>
            <a:spLocks noGrp="1"/>
          </p:cNvSpPr>
          <p:nvPr/>
        </p:nvSpPr>
        <p:spPr>
          <a:xfrm>
            <a:off x="8686800" y="32670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scenario contribution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3C492F-54A0-4544-80EE-0410B0162DC8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1" i="0">
                <a:solidFill>
                  <a:srgbClr val="C94C4C"/>
                </a:solidFill>
              </a:defRPr>
            </a:pPr>
            <a:r>
              <a:rPr sz="3750" b="1" i="0">
                <a:solidFill>
                  <a:srgbClr val="C94C4C"/>
                </a:solidFill>
              </a:rPr>
              <a:t>−1.90M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0498FB-FD85-4378-ADA4-7CE3676004BB}"/>
              </a:ext>
            </a:extLst>
          </p:cNvPr>
          <p:cNvSpPr>
            <a:spLocks noGrp="1"/>
          </p:cNvSpPr>
          <p:nvPr/>
        </p:nvSpPr>
        <p:spPr>
          <a:xfrm>
            <a:off x="8686800" y="43910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contribution gap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127287-7F2F-4556-923F-3E8B3399D72E}"/>
              </a:ext>
            </a:extLst>
          </p:cNvPr>
          <p:cNvSpPr>
            <a:spLocks noGrp="1"/>
          </p:cNvSpPr>
          <p:nvPr/>
        </p:nvSpPr>
        <p:spPr>
          <a:xfrm>
            <a:off x="8515350" y="5086350"/>
            <a:ext cx="2952750" cy="1104900"/>
          </a:xfrm>
          <a:prstGeom prst="roundRect">
            <a:avLst>
              <a:gd name="adj" fmla="val 10345"/>
            </a:avLst>
          </a:prstGeom>
          <a:solidFill>
            <a:srgbClr val="FAF1DD"/>
          </a:solidFill>
          <a:ln w="0">
            <a:solidFill>
              <a:srgbClr val="FAF1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373A1-1217-48B9-BD07-BA91CF05C29E}"/>
              </a:ext>
            </a:extLst>
          </p:cNvPr>
          <p:cNvSpPr>
            <a:spLocks noGrp="1"/>
          </p:cNvSpPr>
          <p:nvPr/>
        </p:nvSpPr>
        <p:spPr>
          <a:xfrm>
            <a:off x="8763000" y="51435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 i="0">
                <a:solidFill>
                  <a:srgbClr val="C1842F"/>
                </a:solidFill>
              </a:defRPr>
            </a:pPr>
            <a:r>
              <a:rPr sz="1650" b="1" i="0">
                <a:solidFill>
                  <a:srgbClr val="C1842F"/>
                </a:solidFill>
              </a:rPr>
              <a:t>Still below break-even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D0D45D-5176-4705-9F92-A5093871EB4D}"/>
              </a:ext>
            </a:extLst>
          </p:cNvPr>
          <p:cNvSpPr>
            <a:spLocks noGrp="1"/>
          </p:cNvSpPr>
          <p:nvPr/>
        </p:nvSpPr>
        <p:spPr>
          <a:xfrm>
            <a:off x="8763000" y="5505450"/>
            <a:ext cx="2457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 i="0">
                <a:solidFill>
                  <a:srgbClr val="2D232A"/>
                </a:solidFill>
              </a:defRPr>
            </a:pPr>
            <a:r>
              <a:rPr sz="1350" b="1" i="0">
                <a:solidFill>
                  <a:srgbClr val="2D232A"/>
                </a:solidFill>
              </a:rPr>
              <a:t>Test only—do not scale. Keep a strict budget cap and stop-loss.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A8B945-3982-45E5-B92B-DD98E610089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D1C295-8AE3-49D3-B7DF-D3D46CE860A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41619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A7143F1-6AA3-48B6-ADDE-EF55D36C1D9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ACTIONABLE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07A996-D891-4B5A-9283-CEA7C8B7224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Three actions convert diagnosis into controlled growth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BF66A-2763-49FA-A0F4-BA9EA63CCDB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0D22D-C180-4054-85E8-DC3D04434A8A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253DEA-8AA3-49CD-B882-021F5CEBD06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1200150"/>
          </a:xfrm>
          <a:prstGeom prst="roundRect">
            <a:avLst>
              <a:gd name="adj" fmla="val 9524"/>
            </a:avLst>
          </a:prstGeom>
          <a:solidFill>
            <a:srgbClr val="FCECE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A8F741-3093-4C68-8FB2-AEBB6C930905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647700" cy="647700"/>
          </a:xfrm>
          <a:prstGeom prst="ellipse">
            <a:avLst/>
          </a:prstGeom>
          <a:solidFill>
            <a:srgbClr val="C94C4C"/>
          </a:solidFill>
          <a:ln w="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C8DE56-D082-4827-A600-26A50F84BA83}"/>
              </a:ext>
            </a:extLst>
          </p:cNvPr>
          <p:cNvSpPr>
            <a:spLocks noGrp="1"/>
          </p:cNvSpPr>
          <p:nvPr/>
        </p:nvSpPr>
        <p:spPr>
          <a:xfrm>
            <a:off x="895350" y="208597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BE41F-CDE0-4B61-8C1E-2CDD008249CE}"/>
              </a:ext>
            </a:extLst>
          </p:cNvPr>
          <p:cNvSpPr>
            <a:spLocks noGrp="1"/>
          </p:cNvSpPr>
          <p:nvPr/>
        </p:nvSpPr>
        <p:spPr>
          <a:xfrm>
            <a:off x="1847850" y="18288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 i="0">
                <a:solidFill>
                  <a:srgbClr val="2D232A"/>
                </a:solidFill>
              </a:defRPr>
            </a:pPr>
            <a:r>
              <a:rPr sz="1950" b="1" i="0">
                <a:solidFill>
                  <a:srgbClr val="2D232A"/>
                </a:solidFill>
              </a:rPr>
              <a:t>Protect margin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8D3AAF-E2C8-45CD-A258-0288B83CF255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C94C4C"/>
                </a:solidFill>
              </a:defRPr>
            </a:pPr>
            <a:r>
              <a:rPr sz="1050" b="1" i="0">
                <a:solidFill>
                  <a:srgbClr val="C94C4C"/>
                </a:solidFill>
              </a:rPr>
              <a:t>PRODUCT + FINANCE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B7D22-CF5E-411A-B29E-F7A133B69546}"/>
              </a:ext>
            </a:extLst>
          </p:cNvPr>
          <p:cNvSpPr>
            <a:spLocks noGrp="1"/>
          </p:cNvSpPr>
          <p:nvPr/>
        </p:nvSpPr>
        <p:spPr>
          <a:xfrm>
            <a:off x="1847850" y="2219325"/>
            <a:ext cx="904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 dirty="0">
                <a:solidFill>
                  <a:srgbClr val="514C54"/>
                </a:solidFill>
              </a:rPr>
              <a:t>Reject blanket rollout. Set cashback below merchant commission or secure co-funding; enforce budget caps and stop-loss.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0B6632-56CA-464B-A4E6-A59EB3074C62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0820400" cy="1200150"/>
          </a:xfrm>
          <a:prstGeom prst="roundRect">
            <a:avLst>
              <a:gd name="adj" fmla="val 9524"/>
            </a:avLst>
          </a:prstGeom>
          <a:solidFill>
            <a:srgbClr val="FBEFF5"/>
          </a:solidFill>
          <a:ln w="9525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0D9522-AFB4-4530-86AC-DA993E6831DD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647700" cy="647700"/>
          </a:xfrm>
          <a:prstGeom prst="ellipse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0A5E2-444D-4D4A-B067-532F80A36337}"/>
              </a:ext>
            </a:extLst>
          </p:cNvPr>
          <p:cNvSpPr>
            <a:spLocks noGrp="1"/>
          </p:cNvSpPr>
          <p:nvPr/>
        </p:nvSpPr>
        <p:spPr>
          <a:xfrm>
            <a:off x="895350" y="353377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0A311-14C1-453B-B574-E1B11C33C9C5}"/>
              </a:ext>
            </a:extLst>
          </p:cNvPr>
          <p:cNvSpPr>
            <a:spLocks noGrp="1"/>
          </p:cNvSpPr>
          <p:nvPr/>
        </p:nvSpPr>
        <p:spPr>
          <a:xfrm>
            <a:off x="1847850" y="32766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 i="0">
                <a:solidFill>
                  <a:srgbClr val="2D232A"/>
                </a:solidFill>
              </a:defRPr>
            </a:pPr>
            <a:r>
              <a:rPr sz="1950" b="1" i="0">
                <a:solidFill>
                  <a:srgbClr val="2D232A"/>
                </a:solidFill>
              </a:rPr>
              <a:t>Create repeat usage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B3C09-5EE8-487B-8217-DB8FB0EE4205}"/>
              </a:ext>
            </a:extLst>
          </p:cNvPr>
          <p:cNvSpPr>
            <a:spLocks noGrp="1"/>
          </p:cNvSpPr>
          <p:nvPr/>
        </p:nvSpPr>
        <p:spPr>
          <a:xfrm>
            <a:off x="8858250" y="331470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CRM + GROWTH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780B92-1343-437F-9CBA-26499AE4A1E7}"/>
              </a:ext>
            </a:extLst>
          </p:cNvPr>
          <p:cNvSpPr>
            <a:spLocks noGrp="1"/>
          </p:cNvSpPr>
          <p:nvPr/>
        </p:nvSpPr>
        <p:spPr>
          <a:xfrm>
            <a:off x="1847850" y="3667125"/>
            <a:ext cx="904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 dirty="0">
                <a:solidFill>
                  <a:srgbClr val="514C54"/>
                </a:solidFill>
              </a:rPr>
              <a:t>Drive a second </a:t>
            </a:r>
            <a:r>
              <a:rPr sz="1350" b="0" i="0" dirty="0" err="1">
                <a:solidFill>
                  <a:srgbClr val="514C54"/>
                </a:solidFill>
              </a:rPr>
              <a:t>Topup</a:t>
            </a:r>
            <a:r>
              <a:rPr sz="1350" b="0" i="0" dirty="0">
                <a:solidFill>
                  <a:srgbClr val="514C54"/>
                </a:solidFill>
              </a:rPr>
              <a:t> within 30 days using lifecycle reminders and purchase-for-others occasions, not broad discounts.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B8BDBF-0418-48CB-A0B3-6A9EA986918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200150"/>
          </a:xfrm>
          <a:prstGeom prst="roundRect">
            <a:avLst>
              <a:gd name="adj" fmla="val 9524"/>
            </a:avLst>
          </a:prstGeom>
          <a:solidFill>
            <a:srgbClr val="E6F4EE"/>
          </a:solidFill>
          <a:ln w="9525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FBAAE3-F5E6-4345-8FC6-031405AC4569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647700" cy="647700"/>
          </a:xfrm>
          <a:prstGeom prst="ellipse">
            <a:avLst/>
          </a:prstGeom>
          <a:solidFill>
            <a:srgbClr val="2F8F6B"/>
          </a:solidFill>
          <a:ln w="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8186DD-4B05-4CFA-A9D5-B4958D9BAEE3}"/>
              </a:ext>
            </a:extLst>
          </p:cNvPr>
          <p:cNvSpPr>
            <a:spLocks noGrp="1"/>
          </p:cNvSpPr>
          <p:nvPr/>
        </p:nvSpPr>
        <p:spPr>
          <a:xfrm>
            <a:off x="895350" y="498157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5C81D-7476-4B26-AA67-2437A7DCAA5B}"/>
              </a:ext>
            </a:extLst>
          </p:cNvPr>
          <p:cNvSpPr>
            <a:spLocks noGrp="1"/>
          </p:cNvSpPr>
          <p:nvPr/>
        </p:nvSpPr>
        <p:spPr>
          <a:xfrm>
            <a:off x="1847850" y="47244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 i="0">
                <a:solidFill>
                  <a:srgbClr val="2D232A"/>
                </a:solidFill>
              </a:defRPr>
            </a:pPr>
            <a:r>
              <a:rPr sz="1950" b="1" i="0">
                <a:solidFill>
                  <a:srgbClr val="2D232A"/>
                </a:solidFill>
              </a:rPr>
              <a:t>Allocate by value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7E633E-F1C0-491C-A618-747AC99A1498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2F8F6B"/>
                </a:solidFill>
              </a:defRPr>
            </a:pPr>
            <a:r>
              <a:rPr sz="1050" b="1" i="0">
                <a:solidFill>
                  <a:srgbClr val="2F8F6B"/>
                </a:solidFill>
              </a:rPr>
              <a:t>MARKETING + PARTNERSHIPS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D53E5A-4ED4-40C7-8DE7-1AB168785747}"/>
              </a:ext>
            </a:extLst>
          </p:cNvPr>
          <p:cNvSpPr>
            <a:spLocks noGrp="1"/>
          </p:cNvSpPr>
          <p:nvPr/>
        </p:nvSpPr>
        <p:spPr>
          <a:xfrm>
            <a:off x="1847850" y="5114925"/>
            <a:ext cx="904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Use Viettel for reach, Mobifone for contribution and Vinaphone for monetization-led tests; tailor offers by customer value.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AB6D07-9AB8-410E-A8D0-59627B71AF1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A64F0B-9462-4391-81ED-2830C51335A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130482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C35D4CA-CF32-4D57-A945-34BE78D6CB7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A21C63"/>
                </a:solidFill>
              </a:defRPr>
            </a:pPr>
            <a:r>
              <a:rPr sz="1050" b="1" i="0">
                <a:solidFill>
                  <a:srgbClr val="A21C63"/>
                </a:solidFill>
              </a:rPr>
              <a:t>DECISION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01860-A88A-43E5-8B7D-9F6A41B9688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 i="0">
                <a:solidFill>
                  <a:srgbClr val="2D232A"/>
                </a:solidFill>
              </a:defRPr>
            </a:pPr>
            <a:r>
              <a:rPr sz="2775" b="1" i="0">
                <a:solidFill>
                  <a:srgbClr val="2D232A"/>
                </a:solidFill>
              </a:rPr>
              <a:t>Scale only when contribution—not GMV—wins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41253-50DF-40C7-B465-797297C5050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19050"/>
          </a:xfrm>
          <a:prstGeom prst="rect">
            <a:avLst/>
          </a:prstGeom>
          <a:solidFill>
            <a:srgbClr val="A21C63"/>
          </a:solidFill>
          <a:ln w="0">
            <a:solidFill>
              <a:srgbClr val="A21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8880F-9B48-4F47-9A6A-CE3B7C73A9A3}"/>
              </a:ext>
            </a:extLst>
          </p:cNvPr>
          <p:cNvSpPr>
            <a:spLocks noGrp="1"/>
          </p:cNvSpPr>
          <p:nvPr/>
        </p:nvSpPr>
        <p:spPr>
          <a:xfrm>
            <a:off x="11115675" y="400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1" i="0">
                <a:solidFill>
                  <a:srgbClr val="746E76"/>
                </a:solidFill>
              </a:defRPr>
            </a:pPr>
            <a:r>
              <a:rPr sz="1050" b="1" i="0">
                <a:solidFill>
                  <a:srgbClr val="746E76"/>
                </a:solidFill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37989-798C-47DA-931B-46E9B461DC68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52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 i="0">
                <a:solidFill>
                  <a:srgbClr val="2D232A"/>
                </a:solidFill>
              </a:defRPr>
            </a:pPr>
            <a:r>
              <a:rPr sz="2025" b="1" i="0">
                <a:solidFill>
                  <a:srgbClr val="2D232A"/>
                </a:solidFill>
              </a:rPr>
              <a:t>Run merchant-specific, capped A/B tests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CEF8F-C2D4-45EE-9B67-4C402100CC2D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514C54"/>
                </a:solidFill>
              </a:defRPr>
            </a:pPr>
            <a:r>
              <a:rPr sz="1350" b="0" i="0">
                <a:solidFill>
                  <a:srgbClr val="514C54"/>
                </a:solidFill>
              </a:rPr>
              <a:t>Control • fixed window • budget cap • stop-loss • retention check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C6B5B1-6921-493B-A5ED-8F679467F473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124200" cy="2095500"/>
          </a:xfrm>
          <a:prstGeom prst="roundRect">
            <a:avLst>
              <a:gd name="adj" fmla="val 5455"/>
            </a:avLst>
          </a:prstGeom>
          <a:solidFill>
            <a:srgbClr val="E6F4EE"/>
          </a:solidFill>
          <a:ln w="1905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A0219-B73E-442B-B725-693788175D80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 i="0">
                <a:solidFill>
                  <a:srgbClr val="2F8F6B"/>
                </a:solidFill>
              </a:defRPr>
            </a:pPr>
            <a:r>
              <a:rPr sz="2025" b="1" i="0">
                <a:solidFill>
                  <a:srgbClr val="2F8F6B"/>
                </a:solidFill>
              </a:rPr>
              <a:t>SCALE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E1466-E5FF-467A-931C-951870332407}"/>
              </a:ext>
            </a:extLst>
          </p:cNvPr>
          <p:cNvSpPr>
            <a:spLocks noGrp="1"/>
          </p:cNvSpPr>
          <p:nvPr/>
        </p:nvSpPr>
        <p:spPr>
          <a:xfrm>
            <a:off x="1562100" y="3390900"/>
            <a:ext cx="1371600" cy="28575"/>
          </a:xfrm>
          <a:prstGeom prst="rect">
            <a:avLst/>
          </a:prstGeom>
          <a:solidFill>
            <a:srgbClr val="2F8F6B"/>
          </a:solidFill>
          <a:ln w="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4BC282-C4B5-4B97-9ED5-0D5555E53B8A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2590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Incremental contribution &gt; 0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Repeat usage improves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Economics hold by merchant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45B3CD-FA74-4BAE-AD7D-3AB3FED0061F}"/>
              </a:ext>
            </a:extLst>
          </p:cNvPr>
          <p:cNvSpPr>
            <a:spLocks noGrp="1"/>
          </p:cNvSpPr>
          <p:nvPr/>
        </p:nvSpPr>
        <p:spPr>
          <a:xfrm>
            <a:off x="4152900" y="2686050"/>
            <a:ext cx="3124200" cy="2095500"/>
          </a:xfrm>
          <a:prstGeom prst="roundRect">
            <a:avLst>
              <a:gd name="adj" fmla="val 5455"/>
            </a:avLst>
          </a:prstGeom>
          <a:solidFill>
            <a:srgbClr val="FAF1DD"/>
          </a:solidFill>
          <a:ln w="19050">
            <a:solidFill>
              <a:srgbClr val="C18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5011DE-3AC1-42B8-A392-47EA6882E67C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 i="0">
                <a:solidFill>
                  <a:srgbClr val="C1842F"/>
                </a:solidFill>
              </a:defRPr>
            </a:pPr>
            <a:r>
              <a:rPr sz="2025" b="1" i="0">
                <a:solidFill>
                  <a:srgbClr val="C1842F"/>
                </a:solidFill>
              </a:rPr>
              <a:t>ITERATE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6762E-156E-464F-88AC-29C90D1FF221}"/>
              </a:ext>
            </a:extLst>
          </p:cNvPr>
          <p:cNvSpPr>
            <a:spLocks noGrp="1"/>
          </p:cNvSpPr>
          <p:nvPr/>
        </p:nvSpPr>
        <p:spPr>
          <a:xfrm>
            <a:off x="5029200" y="3390900"/>
            <a:ext cx="1371600" cy="28575"/>
          </a:xfrm>
          <a:prstGeom prst="rect">
            <a:avLst/>
          </a:prstGeom>
          <a:solidFill>
            <a:srgbClr val="C1842F"/>
          </a:solidFill>
          <a:ln w="0">
            <a:solidFill>
              <a:srgbClr val="C18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BE407A-8959-4638-A3FD-934FA92BA3A9}"/>
              </a:ext>
            </a:extLst>
          </p:cNvPr>
          <p:cNvSpPr>
            <a:spLocks noGrp="1"/>
          </p:cNvSpPr>
          <p:nvPr/>
        </p:nvSpPr>
        <p:spPr>
          <a:xfrm>
            <a:off x="4419600" y="3638550"/>
            <a:ext cx="2590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GMV grows; contribution is weak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Adjust rate, segment or cap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Retest one variable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B46777-326B-4296-B01B-6A715ADD24E0}"/>
              </a:ext>
            </a:extLst>
          </p:cNvPr>
          <p:cNvSpPr>
            <a:spLocks noGrp="1"/>
          </p:cNvSpPr>
          <p:nvPr/>
        </p:nvSpPr>
        <p:spPr>
          <a:xfrm>
            <a:off x="7620000" y="2686050"/>
            <a:ext cx="3124200" cy="2095500"/>
          </a:xfrm>
          <a:prstGeom prst="roundRect">
            <a:avLst>
              <a:gd name="adj" fmla="val 5455"/>
            </a:avLst>
          </a:prstGeom>
          <a:solidFill>
            <a:srgbClr val="FCECEC"/>
          </a:solidFill>
          <a:ln w="1905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04F90-884E-43B8-83CA-C36B6A43C677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 i="0">
                <a:solidFill>
                  <a:srgbClr val="C94C4C"/>
                </a:solidFill>
              </a:defRPr>
            </a:pPr>
            <a:r>
              <a:rPr sz="2025" b="1" i="0">
                <a:solidFill>
                  <a:srgbClr val="C94C4C"/>
                </a:solidFill>
              </a:rPr>
              <a:t>STOP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BE3CD5-4C06-44A6-9B40-D472D275B5E5}"/>
              </a:ext>
            </a:extLst>
          </p:cNvPr>
          <p:cNvSpPr>
            <a:spLocks noGrp="1"/>
          </p:cNvSpPr>
          <p:nvPr/>
        </p:nvSpPr>
        <p:spPr>
          <a:xfrm>
            <a:off x="8496300" y="3390900"/>
            <a:ext cx="1371600" cy="28575"/>
          </a:xfrm>
          <a:prstGeom prst="rect">
            <a:avLst/>
          </a:prstGeom>
          <a:solidFill>
            <a:srgbClr val="C94C4C"/>
          </a:solidFill>
          <a:ln w="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59CE41-36DC-4CD1-A85D-5DEE9472D153}"/>
              </a:ext>
            </a:extLst>
          </p:cNvPr>
          <p:cNvSpPr>
            <a:spLocks noGrp="1"/>
          </p:cNvSpPr>
          <p:nvPr/>
        </p:nvSpPr>
        <p:spPr>
          <a:xfrm>
            <a:off x="7886700" y="3638550"/>
            <a:ext cx="2590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Loss exceeds stop-loss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No repeat improvement</a:t>
            </a:r>
          </a:p>
          <a:p>
            <a:pPr algn="ctr">
              <a:buNone/>
              <a:defRPr sz="1350" b="0" i="0">
                <a:solidFill>
                  <a:srgbClr val="2D232A"/>
                </a:solidFill>
              </a:defRPr>
            </a:pPr>
            <a:r>
              <a:rPr sz="1350" b="0" i="0">
                <a:solidFill>
                  <a:srgbClr val="2D232A"/>
                </a:solidFill>
              </a:rPr>
              <a:t>Viettel margin stays zero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E7B80F-EBEC-4404-8545-7EDC8708950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oundRect">
            <a:avLst>
              <a:gd name="adj" fmla="val 14286"/>
            </a:avLst>
          </a:prstGeom>
          <a:solidFill>
            <a:srgbClr val="2D232A"/>
          </a:solidFill>
          <a:ln w="0">
            <a:solidFill>
              <a:srgbClr val="2D2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F8AAA0-687B-4CD4-8760-027DFB2EF14D}"/>
              </a:ext>
            </a:extLst>
          </p:cNvPr>
          <p:cNvSpPr>
            <a:spLocks noGrp="1"/>
          </p:cNvSpPr>
          <p:nvPr/>
        </p:nvSpPr>
        <p:spPr>
          <a:xfrm>
            <a:off x="933450" y="5419725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E887B6"/>
                </a:solidFill>
              </a:defRPr>
            </a:pPr>
            <a:r>
              <a:rPr sz="1200" b="1" i="0">
                <a:solidFill>
                  <a:srgbClr val="E887B6"/>
                </a:solidFill>
              </a:rPr>
              <a:t>Primary KPI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A20C7C-5B25-4A4A-9ADA-6665A0005E1A}"/>
              </a:ext>
            </a:extLst>
          </p:cNvPr>
          <p:cNvSpPr>
            <a:spLocks noGrp="1"/>
          </p:cNvSpPr>
          <p:nvPr/>
        </p:nvSpPr>
        <p:spPr>
          <a:xfrm>
            <a:off x="2419350" y="5362575"/>
            <a:ext cx="802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Incremental Contribution = Incremental Revenue − Incremental Cashback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CCF7EB-C152-4499-ACBD-8CA1CAD932F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E6DEE3"/>
          </a:solidFill>
          <a:ln w="0">
            <a:solidFill>
              <a:srgbClr val="E6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A63BC9-C1D4-4204-9888-452E662DB8C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 i="0">
                <a:solidFill>
                  <a:srgbClr val="746E76"/>
                </a:solidFill>
              </a:defRPr>
            </a:pPr>
            <a:r>
              <a:rPr sz="825" b="0" i="0">
                <a:solidFill>
                  <a:srgbClr val="746E76"/>
                </a:solidFill>
              </a:rPr>
              <a:t>MoMo Mobile Topup Analysis  •  SQL Server + Power BI</a:t>
            </a:r>
          </a:p>
        </p:txBody>
      </p:sp>
    </p:spTree>
    <p:extLst>
      <p:ext uri="{BB962C8B-B14F-4D97-AF65-F5344CB8AC3E}">
        <p14:creationId xmlns:p14="http://schemas.microsoft.com/office/powerpoint/2010/main" val="404354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2159</Words>
  <Application>Microsoft Office PowerPoint</Application>
  <DocSecurity>0</DocSecurity>
  <PresentationFormat>Widescreen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Phap Tien</cp:lastModifiedBy>
  <cp:revision>1</cp:revision>
  <dcterms:created xsi:type="dcterms:W3CDTF">2026-09-03T03:28:22Z</dcterms:created>
  <dcterms:modified xsi:type="dcterms:W3CDTF">2026-09-03T03:41:08Z</dcterms:modified>
</cp:coreProperties>
</file>